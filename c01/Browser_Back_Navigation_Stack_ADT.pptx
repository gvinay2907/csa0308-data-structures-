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8"/>
    <p:sldId id="284" r:id="rId7"/>
    <p:sldId id="285" r:id="rId6"/>
    <p:sldId id="286" r:id="rId5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topic: choosing a Stack ADT for backward navigation through browser history. Presenter: g.vinay kumar rddy, 192424245. The course and guide attribution are retained from the supplied format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an abstract navigation-history model, not a claim about a particular browser implementation. Keep the displayed page separate from the back-history stack. Home, Search and Article are illustrative page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ADT selection should follow the operations. History does not need a search to locate the previous page: the previous entry is always the most recent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classification tree supplies context. The highlighted stack is linear and non-primitive. The ADT is distinct from the array or linked list that can store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deck, the current page is not on the back stack. Peek reveals the next Back target. Linked-list push, pop, peek and empty checks are O(1) under the usual unit-cost allocation model; a growable array has amortized O(1) pushes.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state after each action. The stack contains earlier pages only. A Back action changes the current page to the popped entry; it does not search by page title or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new-page visit operation first stores current in back, then changes current. If Forward support exists, discard the old forward branch. Actual reclamation of f references may be O(f), so the entire visit is not always worst-case O(1).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 back-only model, simply restore current from back.pop after checking nonempty. With Forward support, push the old current to the forward stack first. The diagram intentionally shows only the Back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calling all array stack operations worst-case constant time. Growth or shrinking may copy entries. The usual linked-node analysis assumes allocation and deallocation as unit-cost operations; real allocator latency can vary.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pseudocode covers back-only navigation. A history entry may store a URL, state reference, or navigation entry; it need not contain the entire web page. Loading and rendering are separate from these ADT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snapshot is after Back from Article to Search. Home is in back and Article is in forward. Forward is symmetric. Transfers using growable arrays are amortized O(1); linked stacks give O(1) under the standard allocation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array itself is not an inefficient alternative: stack operations at the end or a history cursor can be constant-time. Only the explicitly front-shifting policy incurs O(n) movement. A doubly linked list with cursor is also valid. Queue dequeue selects the oldest page and does not satisfy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input sizes 10, 100 and 1000 are illustrative, not benchmark data. The counts are computed as n minus one shifts for a front-removal array and one selected top entry for a stack pop. This does not imply that actual browser page rendering is constant-time.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browsers manage tabs, documents, same-document navigation, redirects, back-forward caches and restoration state. This deck focuses on the suitable ADT model. History can be capped by product policy; avoid assuming unlimited memory or constant page-load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that the stack is the natural ADT for reverse chronological navigation. Separate the ADT from physical representation, and distinguish bookkeeping complexity from the latency of opening the restored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 and invite questions about LIFO, complexity, or the two-stack extension.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WAV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097280" y="2103120"/>
            <a:ext cx="9966960" cy="16002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658368" cy="781812"/>
          </a:xfrm>
          <a:prstGeom prst="rect">
            <a:avLst/>
          </a:prstGeom>
        </p:spPr>
      </p:pic>
      <p:pic>
        <p:nvPicPr>
          <p:cNvPr id="3" name="Image 1" descr="/home/claude/assets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9688" y="228600"/>
            <a:ext cx="877824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CSA03 · Data Structures · Technical Presentation</a:t>
            </a:r>
            <a:endParaRPr lang="en-US" sz="1100" dirty="0"/>
          </a:p>
        </p:txBody>
      </p:sp>
      <p:sp>
        <p:nvSpPr>
          <p:cNvPr id="5" name="Text 1"/>
          <p:cNvSpPr/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buNone/>
              <a:def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defRPr>
            </a:lvl1pPr>
          </a:lstStyle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92808" y="411480"/>
            <a:ext cx="8412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pic>
        <p:nvPicPr>
          <p:cNvPr id="3" name="Image 0" descr="/home/claude/assets/ban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128" y="530352"/>
            <a:ext cx="7863840" cy="1206094"/>
          </a:xfrm>
          <a:prstGeom prst="rect">
            <a:avLst/>
          </a:prstGeom>
        </p:spPr>
      </p:pic>
      <p:sp>
        <p:nvSpPr>
          <p:cNvPr id="4" name="Text 0"/>
          <p:cNvSpPr/>
          <p:nvPr>
            <p:ph type="title" idx="100" hasCustomPrompt="1"/>
          </p:nvPr>
        </p:nvSpPr>
        <p:spPr>
          <a:xfrm>
            <a:off x="1097280" y="2240280"/>
            <a:ext cx="996696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CSA0308- DATA STRUCTURES</a:t>
            </a:r>
          </a:p>
          <a:p>
            <a:r>
              <a:t>Assessment Tool 2 - Technical Presentation</a:t>
            </a:r>
          </a:p>
        </p:txBody>
      </p:sp>
      <p:sp>
        <p:nvSpPr>
          <p:cNvPr id="5" name="Text 2"/>
          <p:cNvSpPr txBox="1"/>
          <p:nvPr/>
        </p:nvSpPr>
        <p:spPr>
          <a:xfrm>
            <a:off x="1097280" y="3794760"/>
            <a:ext cx="99669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744345" y="4857750"/>
            <a:ext cx="2153285" cy="1492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5"/>
                </a:solidFill>
              </a:rPr>
              <a:t>Guided by :</a:t>
            </a:r>
            <a:endParaRPr lang="en-US" sz="2000" b="1" dirty="0">
              <a:solidFill>
                <a:schemeClr val="accent5"/>
              </a:solidFill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chemeClr val="accent5"/>
                </a:solidFill>
              </a:rPr>
              <a:t>Dr.Rajaram</a:t>
            </a:r>
            <a:endParaRPr lang="en-US" sz="2000" b="1" dirty="0">
              <a:solidFill>
                <a:schemeClr val="accent5"/>
              </a:solidFill>
            </a:endParaRPr>
          </a:p>
          <a:p>
            <a:pPr marL="0" indent="0" algn="ctr">
              <a:buNone/>
            </a:pPr>
            <a:endParaRPr lang="en-US" sz="2000" b="1" dirty="0">
              <a:solidFill>
                <a:schemeClr val="accent5"/>
              </a:solidFill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040880" y="5084445"/>
            <a:ext cx="402336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sz="1800" b="1">
                <a:solidFill>
                  <a:srgbClr val="1F5FA8"/>
                </a:solidFill>
                <a:latin typeface="Times New Roman"/>
              </a:rPr>
              <a:t>Presented by:</a:t>
            </a:r>
          </a:p>
          <a:p>
            <a:r>
              <a:rPr sz="1800" b="1">
                <a:solidFill>
                  <a:srgbClr val="1F5FA8"/>
                </a:solidFill>
                <a:latin typeface="Times New Roman"/>
              </a:rPr>
              <a:t>g.vinay kumar rddy</a:t>
            </a:r>
          </a:p>
          <a:p>
            <a:r>
              <a:rPr sz="1800" b="1">
                <a:solidFill>
                  <a:srgbClr val="1F5FA8"/>
                </a:solidFill>
                <a:latin typeface="Times New Roman"/>
              </a:rPr>
              <a:t>192424245</a:t>
            </a:r>
          </a:p>
        </p:txBody>
      </p:sp>
      <p:sp>
        <p:nvSpPr>
          <p:cNvPr id="8" name="Browser topic"/>
          <p:cNvSpPr txBox="1"/>
          <p:nvPr/>
        </p:nvSpPr>
        <p:spPr>
          <a:xfrm>
            <a:off x="1097280" y="3794760"/>
            <a:ext cx="9966960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2500" b="1">
                <a:solidFill>
                  <a:srgbClr val="167D8D"/>
                </a:solidFill>
                <a:latin typeface="Times New Roman"/>
              </a:rPr>
              <a:t>Stack ADT for Browser Back Navigation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1371600" y="246888"/>
            <a:ext cx="9418320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3200" b="1">
                <a:solidFill>
                  <a:srgbClr val="0B1F4B"/>
                </a:solidFill>
                <a:latin typeface="Times New Roman"/>
              </a:rPr>
              <a:t>Recommendation and Conclusion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371600" y="841248"/>
            <a:ext cx="9418320" cy="3200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0">
                <a:solidFill>
                  <a:srgbClr val="167D8D"/>
                </a:solidFill>
                <a:latin typeface="Times New Roman"/>
              </a:rPr>
              <a:t>14 · Stack ADT for efficient backward navigation</a:t>
            </a:r>
          </a:p>
        </p:txBody>
      </p:sp>
      <p:sp>
        <p:nvSpPr>
          <p:cNvPr id="4" name="Slide counter"/>
          <p:cNvSpPr txBox="1"/>
          <p:nvPr/>
        </p:nvSpPr>
        <p:spPr>
          <a:xfrm>
            <a:off x="1110996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26377"/>
                </a:solidFill>
                <a:latin typeface="Times New Roman"/>
              </a:rPr>
              <a:t>15</a:t>
            </a:r>
          </a:p>
        </p:txBody>
      </p:sp>
      <p:sp>
        <p:nvSpPr>
          <p:cNvPr id="5" name="Main recommendation"/>
          <p:cNvSpPr/>
          <p:nvPr/>
        </p:nvSpPr>
        <p:spPr>
          <a:xfrm>
            <a:off x="868680" y="1691640"/>
            <a:ext cx="4297680" cy="1828800"/>
          </a:xfrm>
          <a:prstGeom prst="roundRect">
            <a:avLst>
              <a:gd name="adj" fmla="val 8000"/>
            </a:avLst>
          </a:prstGeom>
          <a:solidFill>
            <a:srgbClr val="167D8D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3400" b="1">
                <a:solidFill>
                  <a:srgbClr val="FFFFFF"/>
                </a:solidFill>
                <a:latin typeface="Times New Roman"/>
              </a:rPr>
              <a:t>STACK ADT</a:t>
            </a:r>
          </a:p>
          <a:p>
            <a:pPr algn="ctr"/>
            <a:r>
              <a:rPr sz="3400" b="1">
                <a:solidFill>
                  <a:srgbClr val="FFFFFF"/>
                </a:solidFill>
                <a:latin typeface="Times New Roman"/>
              </a:rPr>
              <a:t>Last In, First Out</a:t>
            </a:r>
          </a:p>
        </p:txBody>
      </p:sp>
      <p:sp>
        <p:nvSpPr>
          <p:cNvPr id="6" name="Summary heading"/>
          <p:cNvSpPr txBox="1"/>
          <p:nvPr/>
        </p:nvSpPr>
        <p:spPr>
          <a:xfrm>
            <a:off x="5760720" y="1645920"/>
            <a:ext cx="5303520" cy="4572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0B1F4B"/>
                </a:solidFill>
                <a:latin typeface="Times New Roman"/>
              </a:rPr>
              <a:t>Why it fits</a:t>
            </a:r>
          </a:p>
        </p:txBody>
      </p:sp>
      <p:sp>
        <p:nvSpPr>
          <p:cNvPr id="7" name="Summary point 0"/>
          <p:cNvSpPr txBox="1"/>
          <p:nvPr/>
        </p:nvSpPr>
        <p:spPr>
          <a:xfrm>
            <a:off x="5760720" y="2423160"/>
            <a:ext cx="5394960" cy="62179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23334A"/>
                </a:solidFill>
                <a:latin typeface="Times New Roman"/>
              </a:rPr>
              <a:t>1. Most recent previous page is at the top.</a:t>
            </a:r>
          </a:p>
        </p:txBody>
      </p:sp>
      <p:sp>
        <p:nvSpPr>
          <p:cNvPr id="8" name="Summary point 1"/>
          <p:cNvSpPr txBox="1"/>
          <p:nvPr/>
        </p:nvSpPr>
        <p:spPr>
          <a:xfrm>
            <a:off x="5760720" y="3099815"/>
            <a:ext cx="5394960" cy="62179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23334A"/>
                </a:solidFill>
                <a:latin typeface="Times New Roman"/>
              </a:rPr>
              <a:t>2. Back uses one pop—no search or shifting.</a:t>
            </a:r>
          </a:p>
        </p:txBody>
      </p:sp>
      <p:sp>
        <p:nvSpPr>
          <p:cNvPr id="9" name="Summary point 2"/>
          <p:cNvSpPr txBox="1"/>
          <p:nvPr/>
        </p:nvSpPr>
        <p:spPr>
          <a:xfrm>
            <a:off x="5760720" y="3776472"/>
            <a:ext cx="5394960" cy="62179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23334A"/>
                </a:solidFill>
                <a:latin typeface="Times New Roman"/>
              </a:rPr>
              <a:t>3. Storage grows linearly with history entries.</a:t>
            </a:r>
          </a:p>
        </p:txBody>
      </p:sp>
      <p:sp>
        <p:nvSpPr>
          <p:cNvPr id="10" name="Summary point 3"/>
          <p:cNvSpPr txBox="1"/>
          <p:nvPr/>
        </p:nvSpPr>
        <p:spPr>
          <a:xfrm>
            <a:off x="5760720" y="4453127"/>
            <a:ext cx="5394960" cy="62179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23334A"/>
                </a:solidFill>
                <a:latin typeface="Times New Roman"/>
              </a:rPr>
              <a:t>4. A second stack naturally supports Forward.</a:t>
            </a:r>
          </a:p>
        </p:txBody>
      </p:sp>
      <p:sp>
        <p:nvSpPr>
          <p:cNvPr id="11" name="Final caution"/>
          <p:cNvSpPr txBox="1"/>
          <p:nvPr/>
        </p:nvSpPr>
        <p:spPr>
          <a:xfrm>
            <a:off x="914400" y="5029200"/>
            <a:ext cx="10241280" cy="5943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>
                <a:solidFill>
                  <a:srgbClr val="23334A"/>
                </a:solidFill>
                <a:latin typeface="Times New Roman"/>
              </a:rPr>
              <a:t>Array-backed stacks: amortized push cost. Linked stacks: pointer and allocation overhead.</a:t>
            </a:r>
          </a:p>
        </p:txBody>
      </p:sp>
      <p:sp>
        <p:nvSpPr>
          <p:cNvPr id="12" name="Takeaway"/>
          <p:cNvSpPr/>
          <p:nvPr/>
        </p:nvSpPr>
        <p:spPr>
          <a:xfrm>
            <a:off x="685800" y="5870448"/>
            <a:ext cx="10817352" cy="438912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Suitable ADT: Stack · Back operation: O(1) · History space: O(n)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1371600" y="246888"/>
            <a:ext cx="9418320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3200" b="1">
                <a:solidFill>
                  <a:srgbClr val="0B1F4B"/>
                </a:solidFill>
                <a:latin typeface="Times New Roman"/>
              </a:rPr>
              <a:t>The Browser Navigation Problem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371600" y="841248"/>
            <a:ext cx="9418320" cy="3200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0">
                <a:solidFill>
                  <a:srgbClr val="167D8D"/>
                </a:solidFill>
                <a:latin typeface="Times New Roman"/>
              </a:rPr>
              <a:t>01 · What the Back button must do</a:t>
            </a:r>
          </a:p>
        </p:txBody>
      </p:sp>
      <p:sp>
        <p:nvSpPr>
          <p:cNvPr id="4" name="Slide counter"/>
          <p:cNvSpPr txBox="1"/>
          <p:nvPr/>
        </p:nvSpPr>
        <p:spPr>
          <a:xfrm>
            <a:off x="1110996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26377"/>
                </a:solidFill>
                <a:latin typeface="Times New Roman"/>
              </a:rPr>
              <a:t>2</a:t>
            </a:r>
          </a:p>
        </p:txBody>
      </p:sp>
      <p:sp>
        <p:nvSpPr>
          <p:cNvPr id="5" name="Problem statement"/>
          <p:cNvSpPr txBox="1"/>
          <p:nvPr/>
        </p:nvSpPr>
        <p:spPr>
          <a:xfrm>
            <a:off x="777240" y="1508760"/>
            <a:ext cx="10607040" cy="6400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0">
                <a:solidFill>
                  <a:srgbClr val="23334A"/>
                </a:solidFill>
                <a:latin typeface="Times New Roman"/>
              </a:rPr>
              <a:t>A user visits Home, Search and an Article. Back must restore Search, not Home.</a:t>
            </a:r>
          </a:p>
        </p:txBody>
      </p:sp>
      <p:sp>
        <p:nvSpPr>
          <p:cNvPr id="6" name="Browser page 0"/>
          <p:cNvSpPr/>
          <p:nvPr/>
        </p:nvSpPr>
        <p:spPr>
          <a:xfrm>
            <a:off x="914400" y="256032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500" b="1">
                <a:solidFill>
                  <a:srgbClr val="23334A"/>
                </a:solidFill>
                <a:latin typeface="Times New Roman"/>
              </a:rPr>
              <a:t>Home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86200" y="3063240"/>
            <a:ext cx="548640" cy="320040"/>
          </a:xfrm>
          <a:prstGeom prst="rightArrow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rowser page 1"/>
          <p:cNvSpPr/>
          <p:nvPr/>
        </p:nvSpPr>
        <p:spPr>
          <a:xfrm>
            <a:off x="4572000" y="256032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500" b="1">
                <a:solidFill>
                  <a:srgbClr val="23334A"/>
                </a:solidFill>
                <a:latin typeface="Times New Roman"/>
              </a:rPr>
              <a:t>Search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543800" y="3063240"/>
            <a:ext cx="548640" cy="320040"/>
          </a:xfrm>
          <a:prstGeom prst="rightArrow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rowser page 2"/>
          <p:cNvSpPr/>
          <p:nvPr/>
        </p:nvSpPr>
        <p:spPr>
          <a:xfrm>
            <a:off x="8229600" y="256032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500" b="1">
                <a:solidFill>
                  <a:srgbClr val="FFFFFF"/>
                </a:solidFill>
                <a:latin typeface="Times New Roman"/>
              </a:rPr>
              <a:t>Article</a:t>
            </a:r>
          </a:p>
          <a:p>
            <a:pPr algn="ctr"/>
            <a:r>
              <a:rPr sz="2500" b="1">
                <a:solidFill>
                  <a:srgbClr val="FFFFFF"/>
                </a:solidFill>
                <a:latin typeface="Times New Roman"/>
              </a:rPr>
              <a:t>Current page</a:t>
            </a:r>
          </a:p>
        </p:txBody>
      </p:sp>
      <p:sp>
        <p:nvSpPr>
          <p:cNvPr id="11" name="Return order"/>
          <p:cNvSpPr txBox="1"/>
          <p:nvPr/>
        </p:nvSpPr>
        <p:spPr>
          <a:xfrm>
            <a:off x="914400" y="4343400"/>
            <a:ext cx="9144000" cy="4572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67D8D"/>
                </a:solidFill>
                <a:latin typeface="Times New Roman"/>
              </a:rPr>
              <a:t>Back order: Article → Search → Home</a:t>
            </a:r>
          </a:p>
        </p:txBody>
      </p:sp>
      <p:sp>
        <p:nvSpPr>
          <p:cNvPr id="12" name="Problem constraint"/>
          <p:cNvSpPr txBox="1"/>
          <p:nvPr/>
        </p:nvSpPr>
        <p:spPr>
          <a:xfrm>
            <a:off x="914400" y="4983480"/>
            <a:ext cx="10241280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>
                <a:solidFill>
                  <a:srgbClr val="23334A"/>
                </a:solidFill>
                <a:latin typeface="Times New Roman"/>
              </a:rPr>
              <a:t>The most recent earlier page must be available without searching the entire history.</a:t>
            </a:r>
          </a:p>
        </p:txBody>
      </p:sp>
      <p:sp>
        <p:nvSpPr>
          <p:cNvPr id="13" name="Takeaway"/>
          <p:cNvSpPr/>
          <p:nvPr/>
        </p:nvSpPr>
        <p:spPr>
          <a:xfrm>
            <a:off x="685800" y="5870448"/>
            <a:ext cx="10817352" cy="438912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Required access pattern: most recent first → Last In, First Out (LIFO)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1371600" y="246888"/>
            <a:ext cx="9418320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3200" b="1">
                <a:solidFill>
                  <a:srgbClr val="0B1F4B"/>
                </a:solidFill>
                <a:latin typeface="Times New Roman"/>
              </a:rPr>
              <a:t>Requirements Before Choosing an ADT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371600" y="841248"/>
            <a:ext cx="9418320" cy="3200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0">
                <a:solidFill>
                  <a:srgbClr val="167D8D"/>
                </a:solidFill>
                <a:latin typeface="Times New Roman"/>
              </a:rPr>
              <a:t>02 · Match the structure to the operations</a:t>
            </a:r>
          </a:p>
        </p:txBody>
      </p:sp>
      <p:sp>
        <p:nvSpPr>
          <p:cNvPr id="4" name="Slide counter"/>
          <p:cNvSpPr txBox="1"/>
          <p:nvPr/>
        </p:nvSpPr>
        <p:spPr>
          <a:xfrm>
            <a:off x="1110996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26377"/>
                </a:solidFill>
                <a:latin typeface="Times New Roman"/>
              </a:rPr>
              <a:t>3</a:t>
            </a:r>
          </a:p>
        </p:txBody>
      </p:sp>
      <p:sp>
        <p:nvSpPr>
          <p:cNvPr id="5" name="Requirement number 0"/>
          <p:cNvSpPr/>
          <p:nvPr/>
        </p:nvSpPr>
        <p:spPr>
          <a:xfrm>
            <a:off x="822960" y="155448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167D8D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3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6" name="Requirement 0"/>
          <p:cNvSpPr txBox="1"/>
          <p:nvPr/>
        </p:nvSpPr>
        <p:spPr>
          <a:xfrm>
            <a:off x="1600200" y="1554480"/>
            <a:ext cx="4480560" cy="4114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0B1F4B"/>
                </a:solidFill>
                <a:latin typeface="Times New Roman"/>
              </a:rPr>
              <a:t>Correct ordering</a:t>
            </a:r>
          </a:p>
        </p:txBody>
      </p:sp>
      <p:sp>
        <p:nvSpPr>
          <p:cNvPr id="7" name="Requirement detail 0"/>
          <p:cNvSpPr txBox="1"/>
          <p:nvPr/>
        </p:nvSpPr>
        <p:spPr>
          <a:xfrm>
            <a:off x="1600200" y="2121408"/>
            <a:ext cx="4343400" cy="9144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>
                <a:solidFill>
                  <a:srgbClr val="23334A"/>
                </a:solidFill>
                <a:latin typeface="Times New Roman"/>
              </a:rPr>
              <a:t>Undo the latest navigation before earlier ones.</a:t>
            </a:r>
          </a:p>
        </p:txBody>
      </p:sp>
      <p:sp>
        <p:nvSpPr>
          <p:cNvPr id="8" name="Requirement number 1"/>
          <p:cNvSpPr/>
          <p:nvPr/>
        </p:nvSpPr>
        <p:spPr>
          <a:xfrm>
            <a:off x="6309360" y="155448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167D8D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3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" name="Requirement 1"/>
          <p:cNvSpPr txBox="1"/>
          <p:nvPr/>
        </p:nvSpPr>
        <p:spPr>
          <a:xfrm>
            <a:off x="7086600" y="1554480"/>
            <a:ext cx="4480560" cy="4114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0B1F4B"/>
                </a:solidFill>
                <a:latin typeface="Times New Roman"/>
              </a:rPr>
              <a:t>Fast local operations</a:t>
            </a:r>
          </a:p>
        </p:txBody>
      </p:sp>
      <p:sp>
        <p:nvSpPr>
          <p:cNvPr id="10" name="Requirement detail 1"/>
          <p:cNvSpPr txBox="1"/>
          <p:nvPr/>
        </p:nvSpPr>
        <p:spPr>
          <a:xfrm>
            <a:off x="7086600" y="2121408"/>
            <a:ext cx="4343400" cy="9144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>
                <a:solidFill>
                  <a:srgbClr val="23334A"/>
                </a:solidFill>
                <a:latin typeface="Times New Roman"/>
              </a:rPr>
              <a:t>Read and remove the most recent history entry.</a:t>
            </a:r>
          </a:p>
        </p:txBody>
      </p:sp>
      <p:sp>
        <p:nvSpPr>
          <p:cNvPr id="11" name="Requirement number 2"/>
          <p:cNvSpPr/>
          <p:nvPr/>
        </p:nvSpPr>
        <p:spPr>
          <a:xfrm>
            <a:off x="822960" y="3520439"/>
            <a:ext cx="548640" cy="548640"/>
          </a:xfrm>
          <a:prstGeom prst="roundRect">
            <a:avLst>
              <a:gd name="adj" fmla="val 8000"/>
            </a:avLst>
          </a:prstGeom>
          <a:solidFill>
            <a:srgbClr val="167D8D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3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2" name="Requirement 2"/>
          <p:cNvSpPr txBox="1"/>
          <p:nvPr/>
        </p:nvSpPr>
        <p:spPr>
          <a:xfrm>
            <a:off x="1600200" y="3520439"/>
            <a:ext cx="4480560" cy="4114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0B1F4B"/>
                </a:solidFill>
                <a:latin typeface="Times New Roman"/>
              </a:rPr>
              <a:t>Safe boundaries</a:t>
            </a:r>
          </a:p>
        </p:txBody>
      </p:sp>
      <p:sp>
        <p:nvSpPr>
          <p:cNvPr id="13" name="Requirement detail 2"/>
          <p:cNvSpPr txBox="1"/>
          <p:nvPr/>
        </p:nvSpPr>
        <p:spPr>
          <a:xfrm>
            <a:off x="1600200" y="4087368"/>
            <a:ext cx="4343400" cy="9144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>
                <a:solidFill>
                  <a:srgbClr val="23334A"/>
                </a:solidFill>
                <a:latin typeface="Times New Roman"/>
              </a:rPr>
              <a:t>Disable Back when no earlier entry exists.</a:t>
            </a:r>
          </a:p>
        </p:txBody>
      </p:sp>
      <p:sp>
        <p:nvSpPr>
          <p:cNvPr id="14" name="Requirement number 3"/>
          <p:cNvSpPr/>
          <p:nvPr/>
        </p:nvSpPr>
        <p:spPr>
          <a:xfrm>
            <a:off x="6309360" y="3520439"/>
            <a:ext cx="548640" cy="548640"/>
          </a:xfrm>
          <a:prstGeom prst="roundRect">
            <a:avLst>
              <a:gd name="adj" fmla="val 8000"/>
            </a:avLst>
          </a:prstGeom>
          <a:solidFill>
            <a:srgbClr val="167D8D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3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5" name="Requirement 3"/>
          <p:cNvSpPr txBox="1"/>
          <p:nvPr/>
        </p:nvSpPr>
        <p:spPr>
          <a:xfrm>
            <a:off x="7086600" y="3520439"/>
            <a:ext cx="4480560" cy="4114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0B1F4B"/>
                </a:solidFill>
                <a:latin typeface="Times New Roman"/>
              </a:rPr>
              <a:t>Manageable storage</a:t>
            </a:r>
          </a:p>
        </p:txBody>
      </p:sp>
      <p:sp>
        <p:nvSpPr>
          <p:cNvPr id="16" name="Requirement detail 3"/>
          <p:cNvSpPr txBox="1"/>
          <p:nvPr/>
        </p:nvSpPr>
        <p:spPr>
          <a:xfrm>
            <a:off x="7086600" y="4087368"/>
            <a:ext cx="4343400" cy="9144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>
                <a:solidFill>
                  <a:srgbClr val="23334A"/>
                </a:solidFill>
                <a:latin typeface="Times New Roman"/>
              </a:rPr>
              <a:t>Keep one reference per stored history entry.</a:t>
            </a:r>
          </a:p>
        </p:txBody>
      </p:sp>
      <p:sp>
        <p:nvSpPr>
          <p:cNvPr id="17" name="Takeaway"/>
          <p:cNvSpPr/>
          <p:nvPr/>
        </p:nvSpPr>
        <p:spPr>
          <a:xfrm>
            <a:off x="685800" y="5870448"/>
            <a:ext cx="10817352" cy="438912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Choose the ADT from the required behaviour, then choose its implementation.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1371600" y="246888"/>
            <a:ext cx="9418320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3200" b="1">
                <a:solidFill>
                  <a:srgbClr val="0B1F4B"/>
                </a:solidFill>
                <a:latin typeface="Times New Roman"/>
              </a:rPr>
              <a:t>Where the Stack ADT Belongs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371600" y="841248"/>
            <a:ext cx="9418320" cy="3200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0">
                <a:solidFill>
                  <a:srgbClr val="167D8D"/>
                </a:solidFill>
                <a:latin typeface="Times New Roman"/>
              </a:rPr>
              <a:t>03 · A classification tree</a:t>
            </a:r>
          </a:p>
        </p:txBody>
      </p:sp>
      <p:sp>
        <p:nvSpPr>
          <p:cNvPr id="4" name="Slide counter"/>
          <p:cNvSpPr txBox="1"/>
          <p:nvPr/>
        </p:nvSpPr>
        <p:spPr>
          <a:xfrm>
            <a:off x="1110996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26377"/>
                </a:solidFill>
                <a:latin typeface="Times New Roman"/>
              </a:rPr>
              <a:t>4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2834640" y="1874519"/>
            <a:ext cx="3246120" cy="685801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0760" y="1874519"/>
            <a:ext cx="2788920" cy="685801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5852160" y="3108960"/>
            <a:ext cx="3017520" cy="73152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69680" y="3108960"/>
            <a:ext cx="1097280" cy="73152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651760" y="4389120"/>
            <a:ext cx="3200400" cy="73152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4389120"/>
            <a:ext cx="0" cy="73152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4389120"/>
            <a:ext cx="2926080" cy="73152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ee root"/>
          <p:cNvSpPr/>
          <p:nvPr/>
        </p:nvSpPr>
        <p:spPr>
          <a:xfrm>
            <a:off x="4709160" y="1371600"/>
            <a:ext cx="2743200" cy="594360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Data structures</a:t>
            </a:r>
          </a:p>
        </p:txBody>
      </p:sp>
      <p:sp>
        <p:nvSpPr>
          <p:cNvPr id="13" name="Primitive branch"/>
          <p:cNvSpPr/>
          <p:nvPr/>
        </p:nvSpPr>
        <p:spPr>
          <a:xfrm>
            <a:off x="1371600" y="2468880"/>
            <a:ext cx="2926080" cy="7772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100" b="0">
                <a:solidFill>
                  <a:srgbClr val="23334A"/>
                </a:solidFill>
                <a:latin typeface="Times New Roman"/>
              </a:rPr>
              <a:t>Primitive</a:t>
            </a:r>
          </a:p>
          <a:p>
            <a:pPr algn="ctr"/>
            <a:r>
              <a:rPr sz="2100" b="0">
                <a:solidFill>
                  <a:srgbClr val="23334A"/>
                </a:solidFill>
                <a:latin typeface="Times New Roman"/>
              </a:rPr>
              <a:t>int, char, boolean</a:t>
            </a:r>
          </a:p>
        </p:txBody>
      </p:sp>
      <p:sp>
        <p:nvSpPr>
          <p:cNvPr id="14" name="Nonprimitive branch"/>
          <p:cNvSpPr/>
          <p:nvPr/>
        </p:nvSpPr>
        <p:spPr>
          <a:xfrm>
            <a:off x="7315200" y="2468880"/>
            <a:ext cx="3108960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200" b="0">
                <a:solidFill>
                  <a:srgbClr val="23334A"/>
                </a:solidFill>
                <a:latin typeface="Times New Roman"/>
              </a:rPr>
              <a:t>Non-primitive</a:t>
            </a:r>
          </a:p>
        </p:txBody>
      </p:sp>
      <p:sp>
        <p:nvSpPr>
          <p:cNvPr id="15" name="Linear branch"/>
          <p:cNvSpPr/>
          <p:nvPr/>
        </p:nvSpPr>
        <p:spPr>
          <a:xfrm>
            <a:off x="4480560" y="3657600"/>
            <a:ext cx="2743200" cy="640080"/>
          </a:xfrm>
          <a:prstGeom prst="roundRect">
            <a:avLst>
              <a:gd name="adj" fmla="val 8000"/>
            </a:avLst>
          </a:prstGeom>
          <a:solidFill>
            <a:srgbClr val="1F5FA8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Linear structures</a:t>
            </a:r>
          </a:p>
        </p:txBody>
      </p:sp>
      <p:sp>
        <p:nvSpPr>
          <p:cNvPr id="16" name="Nonlinear branch"/>
          <p:cNvSpPr/>
          <p:nvPr/>
        </p:nvSpPr>
        <p:spPr>
          <a:xfrm>
            <a:off x="8778240" y="3657600"/>
            <a:ext cx="2377440" cy="7772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100" b="0">
                <a:solidFill>
                  <a:srgbClr val="23334A"/>
                </a:solidFill>
                <a:latin typeface="Times New Roman"/>
              </a:rPr>
              <a:t>Non-linear</a:t>
            </a:r>
          </a:p>
          <a:p>
            <a:pPr algn="ctr"/>
            <a:r>
              <a:rPr sz="2100" b="0">
                <a:solidFill>
                  <a:srgbClr val="23334A"/>
                </a:solidFill>
                <a:latin typeface="Times New Roman"/>
              </a:rPr>
              <a:t>Tree, Graph</a:t>
            </a:r>
          </a:p>
        </p:txBody>
      </p:sp>
      <p:sp>
        <p:nvSpPr>
          <p:cNvPr id="17" name="Array list leaf"/>
          <p:cNvSpPr/>
          <p:nvPr/>
        </p:nvSpPr>
        <p:spPr>
          <a:xfrm>
            <a:off x="1188720" y="5074920"/>
            <a:ext cx="2926080" cy="5943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000" b="0">
                <a:solidFill>
                  <a:srgbClr val="23334A"/>
                </a:solidFill>
                <a:latin typeface="Times New Roman"/>
              </a:rPr>
              <a:t>Array / Linked list</a:t>
            </a:r>
          </a:p>
        </p:txBody>
      </p:sp>
      <p:sp>
        <p:nvSpPr>
          <p:cNvPr id="18" name="Stack leaf"/>
          <p:cNvSpPr/>
          <p:nvPr/>
        </p:nvSpPr>
        <p:spPr>
          <a:xfrm>
            <a:off x="4526280" y="5074920"/>
            <a:ext cx="2651760" cy="594360"/>
          </a:xfrm>
          <a:prstGeom prst="roundRect">
            <a:avLst>
              <a:gd name="adj" fmla="val 8000"/>
            </a:avLst>
          </a:prstGeom>
          <a:solidFill>
            <a:srgbClr val="167D8D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STACK · LIFO</a:t>
            </a:r>
          </a:p>
        </p:txBody>
      </p:sp>
      <p:sp>
        <p:nvSpPr>
          <p:cNvPr id="19" name="Queue leaf"/>
          <p:cNvSpPr/>
          <p:nvPr/>
        </p:nvSpPr>
        <p:spPr>
          <a:xfrm>
            <a:off x="7543800" y="5074920"/>
            <a:ext cx="2468880" cy="5943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100" b="0">
                <a:solidFill>
                  <a:srgbClr val="23334A"/>
                </a:solidFill>
                <a:latin typeface="Times New Roman"/>
              </a:rPr>
              <a:t>Queue · FIFO</a:t>
            </a:r>
          </a:p>
        </p:txBody>
      </p:sp>
      <p:sp>
        <p:nvSpPr>
          <p:cNvPr id="20" name="Takeaway"/>
          <p:cNvSpPr/>
          <p:nvPr/>
        </p:nvSpPr>
        <p:spPr>
          <a:xfrm>
            <a:off x="685800" y="5870448"/>
            <a:ext cx="10817352" cy="438912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Stack is a non-primitive, linear ADT; its operations are restricted to the 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1371600" y="246888"/>
            <a:ext cx="9418320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3200" b="1">
                <a:solidFill>
                  <a:srgbClr val="0B1F4B"/>
                </a:solidFill>
                <a:latin typeface="Times New Roman"/>
              </a:rPr>
              <a:t>Stack ADT: Behaviour, Not Storage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371600" y="841248"/>
            <a:ext cx="9418320" cy="3200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0">
                <a:solidFill>
                  <a:srgbClr val="167D8D"/>
                </a:solidFill>
                <a:latin typeface="Times New Roman"/>
              </a:rPr>
              <a:t>04 · The last visited page returns first</a:t>
            </a:r>
          </a:p>
        </p:txBody>
      </p:sp>
      <p:sp>
        <p:nvSpPr>
          <p:cNvPr id="4" name="Slide counter"/>
          <p:cNvSpPr txBox="1"/>
          <p:nvPr/>
        </p:nvSpPr>
        <p:spPr>
          <a:xfrm>
            <a:off x="1110996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26377"/>
                </a:solidFill>
                <a:latin typeface="Times New Roman"/>
              </a:rPr>
              <a:t>5</a:t>
            </a:r>
          </a:p>
        </p:txBody>
      </p:sp>
      <p:graphicFrame>
        <p:nvGraphicFramePr>
          <p:cNvPr id="5" name="Stack contract"/>
          <p:cNvGraphicFramePr>
            <a:graphicFrameLocks noGrp="1"/>
          </p:cNvGraphicFramePr>
          <p:nvPr/>
        </p:nvGraphicFramePr>
        <p:xfrm>
          <a:off x="777240" y="1600200"/>
          <a:ext cx="6583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566160"/>
                <a:gridCol w="1463040"/>
              </a:tblGrid>
              <a:tr h="621792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Operation</a:t>
                      </a:r>
                    </a:p>
                  </a:txBody>
                  <a:tcPr marL="109728" marR="73152" marT="73152" marB="36576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Meaning</a:t>
                      </a:r>
                    </a:p>
                  </a:txBody>
                  <a:tcPr marL="109728" marR="73152" marT="73152" marB="36576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Core cost</a:t>
                      </a:r>
                    </a:p>
                  </a:txBody>
                  <a:tcPr marL="109728" marR="73152" marT="73152" marB="36576">
                    <a:solidFill>
                      <a:srgbClr val="0B1F4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3334A"/>
                          </a:solidFill>
                          <a:latin typeface="Times New Roman"/>
                        </a:rPr>
                        <a:t>push(x)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3334A"/>
                          </a:solidFill>
                          <a:latin typeface="Times New Roman"/>
                        </a:rPr>
                        <a:t>Add x at the top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3334A"/>
                          </a:solidFill>
                          <a:latin typeface="Times New Roman"/>
                        </a:rPr>
                        <a:t>O(1)*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3334A"/>
                          </a:solidFill>
                          <a:latin typeface="Times New Roman"/>
                        </a:rPr>
                        <a:t>pop()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3334A"/>
                          </a:solidFill>
                          <a:latin typeface="Times New Roman"/>
                        </a:rPr>
                        <a:t>Remove and return the top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3334A"/>
                          </a:solidFill>
                          <a:latin typeface="Times New Roman"/>
                        </a:rPr>
                        <a:t>O(1)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3334A"/>
                          </a:solidFill>
                          <a:latin typeface="Times New Roman"/>
                        </a:rPr>
                        <a:t>peek()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3334A"/>
                          </a:solidFill>
                          <a:latin typeface="Times New Roman"/>
                        </a:rPr>
                        <a:t>Read the top without removal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3334A"/>
                          </a:solidFill>
                          <a:latin typeface="Times New Roman"/>
                        </a:rPr>
                        <a:t>O(1)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3334A"/>
                          </a:solidFill>
                          <a:latin typeface="Times New Roman"/>
                        </a:rPr>
                        <a:t>isEmpty()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3334A"/>
                          </a:solidFill>
                          <a:latin typeface="Times New Roman"/>
                        </a:rPr>
                        <a:t>Test whether the stack is empty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3334A"/>
                          </a:solidFill>
                          <a:latin typeface="Times New Roman"/>
                        </a:rPr>
                        <a:t>O(1)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ontract stack0"/>
          <p:cNvSpPr/>
          <p:nvPr/>
        </p:nvSpPr>
        <p:spPr>
          <a:xfrm>
            <a:off x="8503920" y="256032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167D8D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Search · next Back</a:t>
            </a:r>
          </a:p>
        </p:txBody>
      </p:sp>
      <p:sp>
        <p:nvSpPr>
          <p:cNvPr id="7" name="Contract stack1"/>
          <p:cNvSpPr/>
          <p:nvPr/>
        </p:nvSpPr>
        <p:spPr>
          <a:xfrm>
            <a:off x="8503920" y="3291839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0">
                <a:solidFill>
                  <a:srgbClr val="23334A"/>
                </a:solidFill>
                <a:latin typeface="Times New Roman"/>
              </a:rPr>
              <a:t>Home</a:t>
            </a:r>
          </a:p>
        </p:txBody>
      </p:sp>
      <p:sp>
        <p:nvSpPr>
          <p:cNvPr id="8" name="Contract stacktop"/>
          <p:cNvSpPr txBox="1"/>
          <p:nvPr/>
        </p:nvSpPr>
        <p:spPr>
          <a:xfrm>
            <a:off x="7863840" y="2670048"/>
            <a:ext cx="59436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67D8D"/>
                </a:solidFill>
                <a:latin typeface="Times New Roman"/>
              </a:rPr>
              <a:t>TOP</a:t>
            </a:r>
          </a:p>
        </p:txBody>
      </p:sp>
      <p:sp>
        <p:nvSpPr>
          <p:cNvPr id="9" name="Separate current"/>
          <p:cNvSpPr txBox="1"/>
          <p:nvPr/>
        </p:nvSpPr>
        <p:spPr>
          <a:xfrm>
            <a:off x="8229600" y="1600200"/>
            <a:ext cx="3017520" cy="8229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0B1F4B"/>
                </a:solidFill>
                <a:latin typeface="Times New Roman"/>
              </a:rPr>
              <a:t>Current page: Article</a:t>
            </a:r>
          </a:p>
          <a:p>
            <a:pPr algn="l">
              <a:spcAft>
                <a:spcPts val="500"/>
              </a:spcAft>
            </a:pPr>
            <a:r>
              <a:rPr sz="2100" b="1">
                <a:solidFill>
                  <a:srgbClr val="0B1F4B"/>
                </a:solidFill>
                <a:latin typeface="Times New Roman"/>
              </a:rPr>
              <a:t>Stored separately</a:t>
            </a:r>
          </a:p>
        </p:txBody>
      </p:sp>
      <p:sp>
        <p:nvSpPr>
          <p:cNvPr id="10" name="Push qualification"/>
          <p:cNvSpPr txBox="1"/>
          <p:nvPr/>
        </p:nvSpPr>
        <p:spPr>
          <a:xfrm>
            <a:off x="822960" y="5074920"/>
            <a:ext cx="10607040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23334A"/>
                </a:solidFill>
                <a:latin typeface="Times New Roman"/>
              </a:rPr>
              <a:t>* Linked stack: worst-case O(1); dynamic array: amortized O(1), with O(n) resize.</a:t>
            </a:r>
          </a:p>
        </p:txBody>
      </p:sp>
      <p:sp>
        <p:nvSpPr>
          <p:cNvPr id="11" name="Takeaway"/>
          <p:cNvSpPr/>
          <p:nvPr/>
        </p:nvSpPr>
        <p:spPr>
          <a:xfrm>
            <a:off x="685800" y="5870448"/>
            <a:ext cx="10817352" cy="438912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The ADT defines the interface; the implementation determines allocation costs.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1371600" y="246888"/>
            <a:ext cx="9418320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3200" b="1">
                <a:solidFill>
                  <a:srgbClr val="0B1F4B"/>
                </a:solidFill>
                <a:latin typeface="Times New Roman"/>
              </a:rPr>
              <a:t>LIFO Matches the Visit Order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371600" y="841248"/>
            <a:ext cx="9418320" cy="3200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0">
                <a:solidFill>
                  <a:srgbClr val="167D8D"/>
                </a:solidFill>
                <a:latin typeface="Times New Roman"/>
              </a:rPr>
              <a:t>05 · A simple history trace</a:t>
            </a:r>
          </a:p>
        </p:txBody>
      </p:sp>
      <p:sp>
        <p:nvSpPr>
          <p:cNvPr id="4" name="Slide counter"/>
          <p:cNvSpPr txBox="1"/>
          <p:nvPr/>
        </p:nvSpPr>
        <p:spPr>
          <a:xfrm>
            <a:off x="1110996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26377"/>
                </a:solidFill>
                <a:latin typeface="Times New Roman"/>
              </a:rPr>
              <a:t>6</a:t>
            </a:r>
          </a:p>
        </p:txBody>
      </p:sp>
      <p:graphicFrame>
        <p:nvGraphicFramePr>
          <p:cNvPr id="5" name="Visit order trace"/>
          <p:cNvGraphicFramePr>
            <a:graphicFrameLocks noGrp="1"/>
          </p:cNvGraphicFramePr>
          <p:nvPr/>
        </p:nvGraphicFramePr>
        <p:xfrm>
          <a:off x="777240" y="1600200"/>
          <a:ext cx="740663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749039"/>
                <a:gridCol w="1737360"/>
              </a:tblGrid>
              <a:tr h="5791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Action</a:t>
                      </a:r>
                    </a:p>
                  </a:txBody>
                  <a:tcPr marL="109728" marR="73152" marT="73152" marB="36576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Back stack (bottom → top)</a:t>
                      </a:r>
                    </a:p>
                  </a:txBody>
                  <a:tcPr marL="109728" marR="73152" marT="73152" marB="36576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Current</a:t>
                      </a:r>
                    </a:p>
                  </a:txBody>
                  <a:tcPr marL="109728" marR="73152" marT="73152" marB="36576">
                    <a:solidFill>
                      <a:srgbClr val="0B1F4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Open Home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empty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Home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Visit Search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Home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Search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Visit Article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Home, Search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Article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Press Back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Home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Search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Press Back again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empty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Home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6" name="LIFO example0"/>
          <p:cNvSpPr/>
          <p:nvPr/>
        </p:nvSpPr>
        <p:spPr>
          <a:xfrm>
            <a:off x="8823960" y="2286000"/>
            <a:ext cx="2103120" cy="731519"/>
          </a:xfrm>
          <a:prstGeom prst="roundRect">
            <a:avLst>
              <a:gd name="adj" fmla="val 8000"/>
            </a:avLst>
          </a:prstGeom>
          <a:solidFill>
            <a:srgbClr val="167D8D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Search</a:t>
            </a:r>
          </a:p>
        </p:txBody>
      </p:sp>
      <p:sp>
        <p:nvSpPr>
          <p:cNvPr id="7" name="LIFO example1"/>
          <p:cNvSpPr/>
          <p:nvPr/>
        </p:nvSpPr>
        <p:spPr>
          <a:xfrm>
            <a:off x="8823960" y="3063240"/>
            <a:ext cx="2103120" cy="73151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0">
                <a:solidFill>
                  <a:srgbClr val="23334A"/>
                </a:solidFill>
                <a:latin typeface="Times New Roman"/>
              </a:rPr>
              <a:t>Home</a:t>
            </a:r>
          </a:p>
        </p:txBody>
      </p:sp>
      <p:sp>
        <p:nvSpPr>
          <p:cNvPr id="8" name="LIFO exampletop"/>
          <p:cNvSpPr txBox="1"/>
          <p:nvPr/>
        </p:nvSpPr>
        <p:spPr>
          <a:xfrm>
            <a:off x="8183880" y="2395728"/>
            <a:ext cx="59436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67D8D"/>
                </a:solidFill>
                <a:latin typeface="Times New Roman"/>
              </a:rPr>
              <a:t>TOP</a:t>
            </a:r>
          </a:p>
        </p:txBody>
      </p:sp>
      <p:sp>
        <p:nvSpPr>
          <p:cNvPr id="9" name="LIFO caption"/>
          <p:cNvSpPr txBox="1"/>
          <p:nvPr/>
        </p:nvSpPr>
        <p:spPr>
          <a:xfrm>
            <a:off x="8549640" y="4160520"/>
            <a:ext cx="2926080" cy="9144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167D8D"/>
                </a:solidFill>
                <a:latin typeface="Times New Roman"/>
              </a:rPr>
              <a:t>Search entered last.</a:t>
            </a:r>
          </a:p>
          <a:p>
            <a:pPr algn="l">
              <a:spcAft>
                <a:spcPts val="500"/>
              </a:spcAft>
            </a:pPr>
            <a:r>
              <a:rPr sz="2300" b="1">
                <a:solidFill>
                  <a:srgbClr val="167D8D"/>
                </a:solidFill>
                <a:latin typeface="Times New Roman"/>
              </a:rPr>
              <a:t>Search leaves first.</a:t>
            </a:r>
          </a:p>
        </p:txBody>
      </p:sp>
      <p:sp>
        <p:nvSpPr>
          <p:cNvPr id="10" name="Takeaway"/>
          <p:cNvSpPr/>
          <p:nvPr/>
        </p:nvSpPr>
        <p:spPr>
          <a:xfrm>
            <a:off x="685800" y="5870448"/>
            <a:ext cx="10817352" cy="438912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The return order is the reverse of the visit order, exactly as a stack requires.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1371600" y="246888"/>
            <a:ext cx="9418320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3200" b="1">
                <a:solidFill>
                  <a:srgbClr val="0B1F4B"/>
                </a:solidFill>
                <a:latin typeface="Times New Roman"/>
              </a:rPr>
              <a:t>Recording a New Page Visit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371600" y="841248"/>
            <a:ext cx="9418320" cy="3200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0">
                <a:solidFill>
                  <a:srgbClr val="167D8D"/>
                </a:solidFill>
                <a:latin typeface="Times New Roman"/>
              </a:rPr>
              <a:t>06 · Store the previous page at the top</a:t>
            </a:r>
          </a:p>
        </p:txBody>
      </p:sp>
      <p:sp>
        <p:nvSpPr>
          <p:cNvPr id="4" name="Slide counter"/>
          <p:cNvSpPr txBox="1"/>
          <p:nvPr/>
        </p:nvSpPr>
        <p:spPr>
          <a:xfrm>
            <a:off x="1110996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26377"/>
                </a:solidFill>
                <a:latin typeface="Times New Roman"/>
              </a:rPr>
              <a:t>7</a:t>
            </a:r>
          </a:p>
        </p:txBody>
      </p:sp>
      <p:sp>
        <p:nvSpPr>
          <p:cNvPr id="5" name="Visit step 0"/>
          <p:cNvSpPr/>
          <p:nvPr/>
        </p:nvSpPr>
        <p:spPr>
          <a:xfrm>
            <a:off x="868680" y="1828800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300" b="1">
                <a:solidFill>
                  <a:srgbClr val="FFFFFF"/>
                </a:solidFill>
                <a:latin typeface="Times New Roman"/>
              </a:rPr>
              <a:t>1 · Save current</a:t>
            </a:r>
          </a:p>
        </p:txBody>
      </p:sp>
      <p:sp>
        <p:nvSpPr>
          <p:cNvPr id="6" name="Visit detail 0"/>
          <p:cNvSpPr txBox="1"/>
          <p:nvPr/>
        </p:nvSpPr>
        <p:spPr>
          <a:xfrm>
            <a:off x="914400" y="2880360"/>
            <a:ext cx="2971800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167D8D"/>
                </a:solidFill>
                <a:latin typeface="Courier New"/>
              </a:rPr>
              <a:t>back.push(current)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23360" y="2057400"/>
            <a:ext cx="548640" cy="320040"/>
          </a:xfrm>
          <a:prstGeom prst="rightArrow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isit step 1"/>
          <p:cNvSpPr/>
          <p:nvPr/>
        </p:nvSpPr>
        <p:spPr>
          <a:xfrm>
            <a:off x="4709160" y="1828800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300" b="1">
                <a:solidFill>
                  <a:srgbClr val="FFFFFF"/>
                </a:solidFill>
                <a:latin typeface="Times New Roman"/>
              </a:rPr>
              <a:t>2 · Switch page</a:t>
            </a:r>
          </a:p>
        </p:txBody>
      </p:sp>
      <p:sp>
        <p:nvSpPr>
          <p:cNvPr id="9" name="Visit detail 1"/>
          <p:cNvSpPr txBox="1"/>
          <p:nvPr/>
        </p:nvSpPr>
        <p:spPr>
          <a:xfrm>
            <a:off x="4754880" y="2880360"/>
            <a:ext cx="2971800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167D8D"/>
                </a:solidFill>
                <a:latin typeface="Courier New"/>
              </a:rPr>
              <a:t>current = newPage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63840" y="2057400"/>
            <a:ext cx="548640" cy="320040"/>
          </a:xfrm>
          <a:prstGeom prst="rightArrow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Visit step 2"/>
          <p:cNvSpPr/>
          <p:nvPr/>
        </p:nvSpPr>
        <p:spPr>
          <a:xfrm>
            <a:off x="8549640" y="1828800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300" b="1">
                <a:solidFill>
                  <a:srgbClr val="FFFFFF"/>
                </a:solidFill>
                <a:latin typeface="Times New Roman"/>
              </a:rPr>
              <a:t>3 · Reset Forward</a:t>
            </a:r>
          </a:p>
        </p:txBody>
      </p:sp>
      <p:sp>
        <p:nvSpPr>
          <p:cNvPr id="12" name="Visit detail 2"/>
          <p:cNvSpPr txBox="1"/>
          <p:nvPr/>
        </p:nvSpPr>
        <p:spPr>
          <a:xfrm>
            <a:off x="8595360" y="2880360"/>
            <a:ext cx="2971800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167D8D"/>
                </a:solidFill>
                <a:latin typeface="Courier New"/>
              </a:rPr>
              <a:t>forward.clear()</a:t>
            </a:r>
          </a:p>
        </p:txBody>
      </p:sp>
      <p:sp>
        <p:nvSpPr>
          <p:cNvPr id="13" name="Visit illustration"/>
          <p:cNvSpPr txBox="1"/>
          <p:nvPr/>
        </p:nvSpPr>
        <p:spPr>
          <a:xfrm>
            <a:off x="914400" y="3977639"/>
            <a:ext cx="9144000" cy="4572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0B1F4B"/>
                </a:solidFill>
                <a:latin typeface="Times New Roman"/>
              </a:rPr>
              <a:t>Example: Search → Article</a:t>
            </a:r>
          </a:p>
        </p:txBody>
      </p:sp>
      <p:sp>
        <p:nvSpPr>
          <p:cNvPr id="14" name="Visit explanation"/>
          <p:cNvSpPr txBox="1"/>
          <p:nvPr/>
        </p:nvSpPr>
        <p:spPr>
          <a:xfrm>
            <a:off x="914400" y="4663440"/>
            <a:ext cx="10332720" cy="7772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0">
                <a:solidFill>
                  <a:srgbClr val="23334A"/>
                </a:solidFill>
                <a:latin typeface="Times New Roman"/>
              </a:rPr>
              <a:t>Search becomes the next Back target. Any old Forward branch is discarded after a new visit.</a:t>
            </a:r>
          </a:p>
        </p:txBody>
      </p:sp>
      <p:sp>
        <p:nvSpPr>
          <p:cNvPr id="15" name="Takeaway"/>
          <p:cNvSpPr/>
          <p:nvPr/>
        </p:nvSpPr>
        <p:spPr>
          <a:xfrm>
            <a:off x="685800" y="5870448"/>
            <a:ext cx="10817352" cy="438912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The push is constant-time or amortized constant-time; clearing f entries may cost O(f).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1371600" y="246888"/>
            <a:ext cx="9418320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3200" b="1">
                <a:solidFill>
                  <a:srgbClr val="0B1F4B"/>
                </a:solidFill>
                <a:latin typeface="Times New Roman"/>
              </a:rPr>
              <a:t>Executing the Back Operation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371600" y="841248"/>
            <a:ext cx="9418320" cy="3200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0">
                <a:solidFill>
                  <a:srgbClr val="167D8D"/>
                </a:solidFill>
                <a:latin typeface="Times New Roman"/>
              </a:rPr>
              <a:t>07 · One pop restores the previous page</a:t>
            </a:r>
          </a:p>
        </p:txBody>
      </p:sp>
      <p:sp>
        <p:nvSpPr>
          <p:cNvPr id="4" name="Slide counter"/>
          <p:cNvSpPr txBox="1"/>
          <p:nvPr/>
        </p:nvSpPr>
        <p:spPr>
          <a:xfrm>
            <a:off x="1110996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26377"/>
                </a:solidFill>
                <a:latin typeface="Times New Roman"/>
              </a:rPr>
              <a:t>8</a:t>
            </a:r>
          </a:p>
        </p:txBody>
      </p:sp>
      <p:sp>
        <p:nvSpPr>
          <p:cNvPr id="5" name="Before label"/>
          <p:cNvSpPr txBox="1"/>
          <p:nvPr/>
        </p:nvSpPr>
        <p:spPr>
          <a:xfrm>
            <a:off x="914400" y="1600200"/>
            <a:ext cx="4114800" cy="3657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B1F4B"/>
                </a:solidFill>
                <a:latin typeface="Times New Roman"/>
              </a:rPr>
              <a:t>BEFORE BACK</a:t>
            </a:r>
          </a:p>
        </p:txBody>
      </p:sp>
      <p:sp>
        <p:nvSpPr>
          <p:cNvPr id="6" name="Before back0"/>
          <p:cNvSpPr/>
          <p:nvPr/>
        </p:nvSpPr>
        <p:spPr>
          <a:xfrm>
            <a:off x="1554480" y="233172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67D8D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Search</a:t>
            </a:r>
          </a:p>
        </p:txBody>
      </p:sp>
      <p:sp>
        <p:nvSpPr>
          <p:cNvPr id="7" name="Before back1"/>
          <p:cNvSpPr/>
          <p:nvPr/>
        </p:nvSpPr>
        <p:spPr>
          <a:xfrm>
            <a:off x="1554480" y="3063239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0">
                <a:solidFill>
                  <a:srgbClr val="23334A"/>
                </a:solidFill>
                <a:latin typeface="Times New Roman"/>
              </a:rPr>
              <a:t>Home</a:t>
            </a:r>
          </a:p>
        </p:txBody>
      </p:sp>
      <p:sp>
        <p:nvSpPr>
          <p:cNvPr id="8" name="Before backtop"/>
          <p:cNvSpPr txBox="1"/>
          <p:nvPr/>
        </p:nvSpPr>
        <p:spPr>
          <a:xfrm>
            <a:off x="914400" y="2441448"/>
            <a:ext cx="59436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67D8D"/>
                </a:solidFill>
                <a:latin typeface="Times New Roman"/>
              </a:rPr>
              <a:t>TOP</a:t>
            </a:r>
          </a:p>
        </p:txBody>
      </p:sp>
      <p:sp>
        <p:nvSpPr>
          <p:cNvPr id="9" name="Before current"/>
          <p:cNvSpPr/>
          <p:nvPr/>
        </p:nvSpPr>
        <p:spPr>
          <a:xfrm>
            <a:off x="1554480" y="4160520"/>
            <a:ext cx="2743200" cy="640080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100" b="0">
                <a:solidFill>
                  <a:srgbClr val="FFFFFF"/>
                </a:solidFill>
                <a:latin typeface="Times New Roman"/>
              </a:rPr>
              <a:t>Current: Article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40680" y="3063240"/>
            <a:ext cx="1005840" cy="502920"/>
          </a:xfrm>
          <a:prstGeom prst="rightArrow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fter label"/>
          <p:cNvSpPr txBox="1"/>
          <p:nvPr/>
        </p:nvSpPr>
        <p:spPr>
          <a:xfrm>
            <a:off x="7315200" y="1600200"/>
            <a:ext cx="3840480" cy="3657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B1F4B"/>
                </a:solidFill>
                <a:latin typeface="Times New Roman"/>
              </a:rPr>
              <a:t>AFTER BACK</a:t>
            </a:r>
          </a:p>
        </p:txBody>
      </p:sp>
      <p:sp>
        <p:nvSpPr>
          <p:cNvPr id="12" name="After back0"/>
          <p:cNvSpPr/>
          <p:nvPr/>
        </p:nvSpPr>
        <p:spPr>
          <a:xfrm>
            <a:off x="7772400" y="306324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67D8D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Home</a:t>
            </a:r>
          </a:p>
        </p:txBody>
      </p:sp>
      <p:sp>
        <p:nvSpPr>
          <p:cNvPr id="13" name="After backtop"/>
          <p:cNvSpPr txBox="1"/>
          <p:nvPr/>
        </p:nvSpPr>
        <p:spPr>
          <a:xfrm>
            <a:off x="7132320" y="3172968"/>
            <a:ext cx="59436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67D8D"/>
                </a:solidFill>
                <a:latin typeface="Times New Roman"/>
              </a:rPr>
              <a:t>TOP</a:t>
            </a:r>
          </a:p>
        </p:txBody>
      </p:sp>
      <p:sp>
        <p:nvSpPr>
          <p:cNvPr id="14" name="After current"/>
          <p:cNvSpPr/>
          <p:nvPr/>
        </p:nvSpPr>
        <p:spPr>
          <a:xfrm>
            <a:off x="7772400" y="4160520"/>
            <a:ext cx="2743200" cy="640080"/>
          </a:xfrm>
          <a:prstGeom prst="roundRect">
            <a:avLst>
              <a:gd name="adj" fmla="val 8000"/>
            </a:avLst>
          </a:prstGeom>
          <a:solidFill>
            <a:srgbClr val="167D8D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100" b="0">
                <a:solidFill>
                  <a:srgbClr val="FFFFFF"/>
                </a:solidFill>
                <a:latin typeface="Times New Roman"/>
              </a:rPr>
              <a:t>Current: Search</a:t>
            </a:r>
          </a:p>
        </p:txBody>
      </p:sp>
      <p:sp>
        <p:nvSpPr>
          <p:cNvPr id="15" name="Back assignment"/>
          <p:cNvSpPr txBox="1"/>
          <p:nvPr/>
        </p:nvSpPr>
        <p:spPr>
          <a:xfrm>
            <a:off x="4480560" y="5166360"/>
            <a:ext cx="4297680" cy="3657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167D8D"/>
                </a:solidFill>
                <a:latin typeface="Courier New"/>
              </a:rPr>
              <a:t>current = back.pop()</a:t>
            </a:r>
          </a:p>
        </p:txBody>
      </p:sp>
      <p:sp>
        <p:nvSpPr>
          <p:cNvPr id="16" name="Takeaway"/>
          <p:cNvSpPr/>
          <p:nvPr/>
        </p:nvSpPr>
        <p:spPr>
          <a:xfrm>
            <a:off x="685800" y="5870448"/>
            <a:ext cx="10817352" cy="438912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Back removes only the top entry: O(1) history bookkeeping, with no traversal.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1371600" y="246888"/>
            <a:ext cx="9418320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3200" b="1">
                <a:solidFill>
                  <a:srgbClr val="0B1F4B"/>
                </a:solidFill>
                <a:latin typeface="Times New Roman"/>
              </a:rPr>
              <a:t>Choosing a Stack Implementation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371600" y="841248"/>
            <a:ext cx="9418320" cy="3200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0">
                <a:solidFill>
                  <a:srgbClr val="167D8D"/>
                </a:solidFill>
                <a:latin typeface="Times New Roman"/>
              </a:rPr>
              <a:t>08 · Array-backed and linked stacks</a:t>
            </a:r>
          </a:p>
        </p:txBody>
      </p:sp>
      <p:sp>
        <p:nvSpPr>
          <p:cNvPr id="4" name="Slide counter"/>
          <p:cNvSpPr txBox="1"/>
          <p:nvPr/>
        </p:nvSpPr>
        <p:spPr>
          <a:xfrm>
            <a:off x="1110996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26377"/>
                </a:solidFill>
                <a:latin typeface="Times New Roman"/>
              </a:rPr>
              <a:t>9</a:t>
            </a:r>
          </a:p>
        </p:txBody>
      </p:sp>
      <p:graphicFrame>
        <p:nvGraphicFramePr>
          <p:cNvPr id="5" name="Implementation comparison"/>
          <p:cNvGraphicFramePr>
            <a:graphicFrameLocks noGrp="1"/>
          </p:cNvGraphicFramePr>
          <p:nvPr/>
        </p:nvGraphicFramePr>
        <p:xfrm>
          <a:off x="731520" y="1600200"/>
          <a:ext cx="107442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97680"/>
                <a:gridCol w="4434840"/>
              </a:tblGrid>
              <a:tr h="5867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Property</a:t>
                      </a:r>
                    </a:p>
                  </a:txBody>
                  <a:tcPr marL="109728" marR="73152" marT="73152" marB="36576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Growable array stack</a:t>
                      </a:r>
                    </a:p>
                  </a:txBody>
                  <a:tcPr marL="109728" marR="73152" marT="73152" marB="36576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Linked-node stack</a:t>
                      </a:r>
                    </a:p>
                  </a:txBody>
                  <a:tcPr marL="109728" marR="73152" marT="73152" marB="36576">
                    <a:solidFill>
                      <a:srgbClr val="0B1F4B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Push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O(1) amortized; O(n) resize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O(1) under allocation model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Pop / peek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O(1)*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O(1)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Storage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O(n) entries; spare capacity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O(n) entries plus links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Locality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Contiguous references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Nodes may be scattered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Trade-off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Occasional resize/copy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Allocation and pointer overhead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6" name="Implementation note"/>
          <p:cNvSpPr txBox="1"/>
          <p:nvPr/>
        </p:nvSpPr>
        <p:spPr>
          <a:xfrm>
            <a:off x="777240" y="5303520"/>
            <a:ext cx="10698480" cy="4114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23334A"/>
                </a:solidFill>
                <a:latin typeface="Times New Roman"/>
              </a:rPr>
              <a:t>* Pop is worst-case O(1) when shrinking is disabled; a shrinking array may use amortized bounds.</a:t>
            </a:r>
          </a:p>
        </p:txBody>
      </p:sp>
      <p:sp>
        <p:nvSpPr>
          <p:cNvPr id="7" name="Takeaway"/>
          <p:cNvSpPr/>
          <p:nvPr/>
        </p:nvSpPr>
        <p:spPr>
          <a:xfrm>
            <a:off x="685800" y="5870448"/>
            <a:ext cx="10817352" cy="438912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Both implement the same Stack ADT; choose based on memory and latency needs.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1371600" y="246888"/>
            <a:ext cx="9418320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3200" b="1">
                <a:solidFill>
                  <a:srgbClr val="0B1F4B"/>
                </a:solidFill>
                <a:latin typeface="Times New Roman"/>
              </a:rPr>
              <a:t>Navigation Logic in Pseudocode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371600" y="841248"/>
            <a:ext cx="9418320" cy="3200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0">
                <a:solidFill>
                  <a:srgbClr val="167D8D"/>
                </a:solidFill>
                <a:latin typeface="Times New Roman"/>
              </a:rPr>
              <a:t>09 · Guard the boundary before popping</a:t>
            </a:r>
          </a:p>
        </p:txBody>
      </p:sp>
      <p:sp>
        <p:nvSpPr>
          <p:cNvPr id="4" name="Slide counter"/>
          <p:cNvSpPr txBox="1"/>
          <p:nvPr/>
        </p:nvSpPr>
        <p:spPr>
          <a:xfrm>
            <a:off x="1110996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26377"/>
                </a:solidFill>
                <a:latin typeface="Times New Roman"/>
              </a:rPr>
              <a:t>10</a:t>
            </a:r>
          </a:p>
        </p:txBody>
      </p:sp>
      <p:sp>
        <p:nvSpPr>
          <p:cNvPr id="5" name="Code background"/>
          <p:cNvSpPr/>
          <p:nvPr/>
        </p:nvSpPr>
        <p:spPr>
          <a:xfrm>
            <a:off x="777240" y="1554480"/>
            <a:ext cx="6949440" cy="3931920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0">
                <a:solidFill>
                  <a:srgbClr val="FFFFFF"/>
                </a:solidFill>
                <a:latin typeface="Times New Roman"/>
              </a:rPr>
              <a:t/>
            </a:r>
          </a:p>
        </p:txBody>
      </p:sp>
      <p:sp>
        <p:nvSpPr>
          <p:cNvPr id="6" name="Back-only pseudocode"/>
          <p:cNvSpPr txBox="1"/>
          <p:nvPr/>
        </p:nvSpPr>
        <p:spPr>
          <a:xfrm>
            <a:off x="1005840" y="1783080"/>
            <a:ext cx="6492240" cy="34747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FFFFFF"/>
                </a:solidFill>
                <a:latin typeface="Courier New"/>
              </a:rPr>
              <a:t>current = Home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FFFFF"/>
                </a:solidFill>
                <a:latin typeface="Courier New"/>
              </a:rPr>
              <a:t>back = empty stack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FFFFF"/>
                </a:solidFill>
                <a:latin typeface="Courier New"/>
              </a:rPr>
              <a:t>visit(page):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FFFFF"/>
                </a:solidFill>
                <a:latin typeface="Courier New"/>
              </a:rPr>
              <a:t>    back.push(current)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FFFFF"/>
                </a:solidFill>
                <a:latin typeface="Courier New"/>
              </a:rPr>
              <a:t>    current = page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FFFFF"/>
                </a:solidFill>
                <a:latin typeface="Courier New"/>
              </a:rPr>
              <a:t>goBack():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FFFFF"/>
                </a:solidFill>
                <a:latin typeface="Courier New"/>
              </a:rPr>
              <a:t>    if back.isEmpty(): return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FFFFFF"/>
                </a:solidFill>
                <a:latin typeface="Courier New"/>
              </a:rPr>
              <a:t>    current = back.pop()</a:t>
            </a:r>
          </a:p>
        </p:txBody>
      </p:sp>
      <p:sp>
        <p:nvSpPr>
          <p:cNvPr id="7" name="Code principle 0"/>
          <p:cNvSpPr txBox="1"/>
          <p:nvPr/>
        </p:nvSpPr>
        <p:spPr>
          <a:xfrm>
            <a:off x="8183879" y="1828800"/>
            <a:ext cx="3154680" cy="3657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167D8D"/>
                </a:solidFill>
                <a:latin typeface="Times New Roman"/>
              </a:rPr>
              <a:t>No search</a:t>
            </a:r>
          </a:p>
        </p:txBody>
      </p:sp>
      <p:sp>
        <p:nvSpPr>
          <p:cNvPr id="8" name="Code principle body 0"/>
          <p:cNvSpPr txBox="1"/>
          <p:nvPr/>
        </p:nvSpPr>
        <p:spPr>
          <a:xfrm>
            <a:off x="8183879" y="2286000"/>
            <a:ext cx="3154680" cy="6400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23334A"/>
                </a:solidFill>
                <a:latin typeface="Times New Roman"/>
              </a:rPr>
              <a:t>The top is already the previous page.</a:t>
            </a:r>
          </a:p>
        </p:txBody>
      </p:sp>
      <p:sp>
        <p:nvSpPr>
          <p:cNvPr id="9" name="Code principle 1"/>
          <p:cNvSpPr txBox="1"/>
          <p:nvPr/>
        </p:nvSpPr>
        <p:spPr>
          <a:xfrm>
            <a:off x="8183879" y="2999232"/>
            <a:ext cx="3154680" cy="3657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167D8D"/>
                </a:solidFill>
                <a:latin typeface="Times New Roman"/>
              </a:rPr>
              <a:t>Boundary guard</a:t>
            </a:r>
          </a:p>
        </p:txBody>
      </p:sp>
      <p:sp>
        <p:nvSpPr>
          <p:cNvPr id="10" name="Code principle body 1"/>
          <p:cNvSpPr txBox="1"/>
          <p:nvPr/>
        </p:nvSpPr>
        <p:spPr>
          <a:xfrm>
            <a:off x="8183879" y="3456432"/>
            <a:ext cx="3154680" cy="6400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23334A"/>
                </a:solidFill>
                <a:latin typeface="Times New Roman"/>
              </a:rPr>
              <a:t>Never pop an empty stack.</a:t>
            </a:r>
          </a:p>
        </p:txBody>
      </p:sp>
      <p:sp>
        <p:nvSpPr>
          <p:cNvPr id="11" name="Code principle 2"/>
          <p:cNvSpPr txBox="1"/>
          <p:nvPr/>
        </p:nvSpPr>
        <p:spPr>
          <a:xfrm>
            <a:off x="8183879" y="4169664"/>
            <a:ext cx="3154680" cy="3657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167D8D"/>
                </a:solidFill>
                <a:latin typeface="Times New Roman"/>
              </a:rPr>
              <a:t>One stored reference</a:t>
            </a:r>
          </a:p>
        </p:txBody>
      </p:sp>
      <p:sp>
        <p:nvSpPr>
          <p:cNvPr id="12" name="Code principle body 2"/>
          <p:cNvSpPr txBox="1"/>
          <p:nvPr/>
        </p:nvSpPr>
        <p:spPr>
          <a:xfrm>
            <a:off x="8183879" y="4626864"/>
            <a:ext cx="3154680" cy="6400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23334A"/>
                </a:solidFill>
                <a:latin typeface="Times New Roman"/>
              </a:rPr>
              <a:t>Do not duplicate the whole page.</a:t>
            </a:r>
          </a:p>
        </p:txBody>
      </p:sp>
      <p:sp>
        <p:nvSpPr>
          <p:cNvPr id="13" name="Takeaway"/>
          <p:cNvSpPr/>
          <p:nvPr/>
        </p:nvSpPr>
        <p:spPr>
          <a:xfrm>
            <a:off x="685800" y="5870448"/>
            <a:ext cx="10817352" cy="438912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This minimal model implements Back; Forward support adds a second stack.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1371600" y="246888"/>
            <a:ext cx="9418320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3200" b="1">
                <a:solidFill>
                  <a:srgbClr val="0B1F4B"/>
                </a:solidFill>
                <a:latin typeface="Times New Roman"/>
              </a:rPr>
              <a:t>Adding Forward Navigation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371600" y="841248"/>
            <a:ext cx="9418320" cy="3200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0">
                <a:solidFill>
                  <a:srgbClr val="167D8D"/>
                </a:solidFill>
                <a:latin typeface="Times New Roman"/>
              </a:rPr>
              <a:t>10 · Two stacks and one current page</a:t>
            </a:r>
          </a:p>
        </p:txBody>
      </p:sp>
      <p:sp>
        <p:nvSpPr>
          <p:cNvPr id="4" name="Slide counter"/>
          <p:cNvSpPr txBox="1"/>
          <p:nvPr/>
        </p:nvSpPr>
        <p:spPr>
          <a:xfrm>
            <a:off x="1110996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26377"/>
                </a:solidFill>
                <a:latin typeface="Times New Roman"/>
              </a:rPr>
              <a:t>11</a:t>
            </a:r>
          </a:p>
        </p:txBody>
      </p:sp>
      <p:sp>
        <p:nvSpPr>
          <p:cNvPr id="5" name="Back stack label"/>
          <p:cNvSpPr txBox="1"/>
          <p:nvPr/>
        </p:nvSpPr>
        <p:spPr>
          <a:xfrm>
            <a:off x="868680" y="1600200"/>
            <a:ext cx="2926080" cy="3657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0B1F4B"/>
                </a:solidFill>
                <a:latin typeface="Times New Roman"/>
              </a:rPr>
              <a:t>BACK STACK</a:t>
            </a:r>
          </a:p>
        </p:txBody>
      </p:sp>
      <p:sp>
        <p:nvSpPr>
          <p:cNvPr id="6" name="Two back0"/>
          <p:cNvSpPr/>
          <p:nvPr/>
        </p:nvSpPr>
        <p:spPr>
          <a:xfrm>
            <a:off x="1508760" y="256032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167D8D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Home</a:t>
            </a:r>
          </a:p>
        </p:txBody>
      </p:sp>
      <p:sp>
        <p:nvSpPr>
          <p:cNvPr id="7" name="Two backtop"/>
          <p:cNvSpPr txBox="1"/>
          <p:nvPr/>
        </p:nvSpPr>
        <p:spPr>
          <a:xfrm>
            <a:off x="868680" y="2670048"/>
            <a:ext cx="59436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67D8D"/>
                </a:solidFill>
                <a:latin typeface="Times New Roman"/>
              </a:rPr>
              <a:t>TOP</a:t>
            </a:r>
          </a:p>
        </p:txBody>
      </p:sp>
      <p:sp>
        <p:nvSpPr>
          <p:cNvPr id="8" name="Current middle"/>
          <p:cNvSpPr/>
          <p:nvPr/>
        </p:nvSpPr>
        <p:spPr>
          <a:xfrm>
            <a:off x="4800600" y="256032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167D8D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600" b="1">
                <a:solidFill>
                  <a:srgbClr val="FFFFFF"/>
                </a:solidFill>
                <a:latin typeface="Times New Roman"/>
              </a:rPr>
              <a:t>CURRENT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Times New Roman"/>
              </a:rPr>
              <a:t>Search</a:t>
            </a:r>
          </a:p>
        </p:txBody>
      </p:sp>
      <p:sp>
        <p:nvSpPr>
          <p:cNvPr id="9" name="Forward stack label"/>
          <p:cNvSpPr txBox="1"/>
          <p:nvPr/>
        </p:nvSpPr>
        <p:spPr>
          <a:xfrm>
            <a:off x="8412480" y="1600200"/>
            <a:ext cx="3017520" cy="3657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0B1F4B"/>
                </a:solidFill>
                <a:latin typeface="Times New Roman"/>
              </a:rPr>
              <a:t>FORWARD STACK</a:t>
            </a:r>
          </a:p>
        </p:txBody>
      </p:sp>
      <p:sp>
        <p:nvSpPr>
          <p:cNvPr id="10" name="Two forward0"/>
          <p:cNvSpPr/>
          <p:nvPr/>
        </p:nvSpPr>
        <p:spPr>
          <a:xfrm>
            <a:off x="8778240" y="256032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167D8D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Article</a:t>
            </a:r>
          </a:p>
        </p:txBody>
      </p:sp>
      <p:sp>
        <p:nvSpPr>
          <p:cNvPr id="11" name="Two forwardtop"/>
          <p:cNvSpPr txBox="1"/>
          <p:nvPr/>
        </p:nvSpPr>
        <p:spPr>
          <a:xfrm>
            <a:off x="8138160" y="2670048"/>
            <a:ext cx="59436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67D8D"/>
                </a:solidFill>
                <a:latin typeface="Times New Roman"/>
              </a:rPr>
              <a:t>TOP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23360" y="3017520"/>
            <a:ext cx="548640" cy="320040"/>
          </a:xfrm>
          <a:prstGeom prst="rightArrow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726679" y="3017520"/>
            <a:ext cx="548640" cy="320040"/>
          </a:xfrm>
          <a:prstGeom prst="rightArrow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wo stack rules"/>
          <p:cNvGraphicFramePr>
            <a:graphicFrameLocks noGrp="1"/>
          </p:cNvGraphicFramePr>
          <p:nvPr/>
        </p:nvGraphicFramePr>
        <p:xfrm>
          <a:off x="868680" y="4343400"/>
          <a:ext cx="1046988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389120"/>
                <a:gridCol w="4251960"/>
              </a:tblGrid>
              <a:tr h="396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Action</a:t>
                      </a:r>
                    </a:p>
                  </a:txBody>
                  <a:tcPr marL="109728" marR="73152" marT="73152" marB="36576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Move the old current</a:t>
                      </a:r>
                    </a:p>
                  </a:txBody>
                  <a:tcPr marL="109728" marR="73152" marT="73152" marB="36576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Restore current</a:t>
                      </a:r>
                    </a:p>
                  </a:txBody>
                  <a:tcPr marL="109728" marR="73152" marT="73152" marB="36576">
                    <a:solidFill>
                      <a:srgbClr val="0B1F4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Back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Push current onto Forward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Pop from Back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Forward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Push current onto Back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Pop from Forward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akeaway"/>
          <p:cNvSpPr/>
          <p:nvPr/>
        </p:nvSpPr>
        <p:spPr>
          <a:xfrm>
            <a:off x="685800" y="5870448"/>
            <a:ext cx="10817352" cy="438912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After a new page visit, clear the old Forward branch so stale entries cannot return.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1371600" y="246888"/>
            <a:ext cx="9418320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3200" b="1">
                <a:solidFill>
                  <a:srgbClr val="0B1F4B"/>
                </a:solidFill>
                <a:latin typeface="Times New Roman"/>
              </a:rPr>
              <a:t>Comparison with Other Structures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371600" y="841248"/>
            <a:ext cx="9418320" cy="3200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0">
                <a:solidFill>
                  <a:srgbClr val="167D8D"/>
                </a:solidFill>
                <a:latin typeface="Times New Roman"/>
              </a:rPr>
              <a:t>11 · Order matters as much as speed</a:t>
            </a:r>
          </a:p>
        </p:txBody>
      </p:sp>
      <p:sp>
        <p:nvSpPr>
          <p:cNvPr id="4" name="Slide counter"/>
          <p:cNvSpPr txBox="1"/>
          <p:nvPr/>
        </p:nvSpPr>
        <p:spPr>
          <a:xfrm>
            <a:off x="1110996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26377"/>
                </a:solidFill>
                <a:latin typeface="Times New Roman"/>
              </a:rPr>
              <a:t>12</a:t>
            </a:r>
          </a:p>
        </p:txBody>
      </p:sp>
      <p:graphicFrame>
        <p:nvGraphicFramePr>
          <p:cNvPr id="5" name="Alternative comparison"/>
          <p:cNvGraphicFramePr>
            <a:graphicFrameLocks noGrp="1"/>
          </p:cNvGraphicFramePr>
          <p:nvPr/>
        </p:nvGraphicFramePr>
        <p:xfrm>
          <a:off x="731520" y="1554480"/>
          <a:ext cx="107442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794760"/>
                <a:gridCol w="3931920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Structure / policy</a:t>
                      </a:r>
                    </a:p>
                  </a:txBody>
                  <a:tcPr marL="109728" marR="73152" marT="73152" marB="36576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Back behaviour</a:t>
                      </a:r>
                    </a:p>
                  </a:txBody>
                  <a:tcPr marL="109728" marR="73152" marT="73152" marB="36576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Cost / caveat</a:t>
                      </a:r>
                    </a:p>
                  </a:txBody>
                  <a:tcPr marL="109728" marR="73152" marT="73152" marB="36576">
                    <a:solidFill>
                      <a:srgbClr val="0B1F4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Stack at one end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Natural LIFO match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O(1) pop; simple interface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Array shifted at front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Can model recent-first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O(n) shift for removal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Queue using dequeue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FIFO: oldest entry first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O(1), but wrong ordering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Doubly linked list + cursor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Can support Back / Forward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O(1) cursor move; extra links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Array history + cursor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Can support Back / Forward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A"/>
                          </a:solidFill>
                          <a:latin typeface="Times New Roman"/>
                        </a:rPr>
                        <a:t>O(1) cursor move; not inferior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6" name="Takeaway"/>
          <p:cNvSpPr/>
          <p:nvPr/>
        </p:nvSpPr>
        <p:spPr>
          <a:xfrm>
            <a:off x="685800" y="5870448"/>
            <a:ext cx="10817352" cy="438912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Recommend Stack for the LIFO abstraction—not because every other design is slower.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1371600" y="246888"/>
            <a:ext cx="9418320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3200" b="1">
                <a:solidFill>
                  <a:srgbClr val="0B1F4B"/>
                </a:solidFill>
                <a:latin typeface="Times New Roman"/>
              </a:rPr>
              <a:t>How Cost Scales with History Size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371600" y="841248"/>
            <a:ext cx="9418320" cy="3200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0">
                <a:solidFill>
                  <a:srgbClr val="167D8D"/>
                </a:solidFill>
                <a:latin typeface="Times New Roman"/>
              </a:rPr>
              <a:t>12 · Theoretical operation counts, not timings</a:t>
            </a:r>
          </a:p>
        </p:txBody>
      </p:sp>
      <p:sp>
        <p:nvSpPr>
          <p:cNvPr id="4" name="Slide counter"/>
          <p:cNvSpPr txBox="1"/>
          <p:nvPr/>
        </p:nvSpPr>
        <p:spPr>
          <a:xfrm>
            <a:off x="1110996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26377"/>
                </a:solidFill>
                <a:latin typeface="Times New Roman"/>
              </a:rPr>
              <a:t>13</a:t>
            </a:r>
          </a:p>
        </p:txBody>
      </p:sp>
      <p:sp>
        <p:nvSpPr>
          <p:cNvPr id="5" name="Cost table label"/>
          <p:cNvSpPr txBox="1"/>
          <p:nvPr/>
        </p:nvSpPr>
        <p:spPr>
          <a:xfrm>
            <a:off x="868680" y="1645920"/>
            <a:ext cx="6675120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B1F4B"/>
                </a:solidFill>
                <a:latin typeface="Times New Roman"/>
              </a:rPr>
              <a:t>Theoretical cost of one Back operation</a:t>
            </a:r>
          </a:p>
        </p:txBody>
      </p:sp>
      <p:graphicFrame>
        <p:nvGraphicFramePr>
          <p:cNvPr id="6" name="Computed operation counts"/>
          <p:cNvGraphicFramePr>
            <a:graphicFrameLocks noGrp="1"/>
          </p:cNvGraphicFramePr>
          <p:nvPr/>
        </p:nvGraphicFramePr>
        <p:xfrm>
          <a:off x="868680" y="2377440"/>
          <a:ext cx="65836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57400"/>
                <a:gridCol w="2331720"/>
              </a:tblGrid>
              <a:tr h="58293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</a:rPr>
                        <a:t>History entries n</a:t>
                      </a:r>
                    </a:p>
                  </a:txBody>
                  <a:tcPr marL="109728" marR="73152" marT="73152" marB="36576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</a:rPr>
                        <a:t>Stack: top entry</a:t>
                      </a:r>
                    </a:p>
                  </a:txBody>
                  <a:tcPr marL="109728" marR="73152" marT="73152" marB="36576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</a:rPr>
                        <a:t>Front shifts: n − 1</a:t>
                      </a:r>
                    </a:p>
                  </a:txBody>
                  <a:tcPr marL="109728" marR="73152" marT="73152" marB="36576">
                    <a:solidFill>
                      <a:srgbClr val="0B1F4B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3334A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3334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3334A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3334A"/>
                          </a:solidFill>
                          <a:latin typeface="Times New Roman"/>
                        </a:rPr>
                        <a:t>100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3334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3334A"/>
                          </a:solidFill>
                          <a:latin typeface="Times New Roman"/>
                        </a:rPr>
                        <a:t>99</a:t>
                      </a:r>
                    </a:p>
                  </a:txBody>
                  <a:tcPr marL="109728" marR="73152" marT="73152" marB="36576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3334A"/>
                          </a:solidFill>
                          <a:latin typeface="Times New Roman"/>
                        </a:rPr>
                        <a:t>1,000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3334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3334A"/>
                          </a:solidFill>
                          <a:latin typeface="Times New Roman"/>
                        </a:rPr>
                        <a:t>999</a:t>
                      </a:r>
                    </a:p>
                  </a:txBody>
                  <a:tcPr marL="109728" marR="73152" marT="73152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7" name="Constant cost"/>
          <p:cNvSpPr/>
          <p:nvPr/>
        </p:nvSpPr>
        <p:spPr>
          <a:xfrm>
            <a:off x="8046720" y="1691640"/>
            <a:ext cx="3246120" cy="1188720"/>
          </a:xfrm>
          <a:prstGeom prst="roundRect">
            <a:avLst>
              <a:gd name="adj" fmla="val 8000"/>
            </a:avLst>
          </a:prstGeom>
          <a:solidFill>
            <a:srgbClr val="167D8D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800" b="1">
                <a:solidFill>
                  <a:srgbClr val="FFFFFF"/>
                </a:solidFill>
                <a:latin typeface="Times New Roman"/>
              </a:rPr>
              <a:t>O(1)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Times New Roman"/>
              </a:rPr>
              <a:t>Back-stack pop</a:t>
            </a:r>
          </a:p>
        </p:txBody>
      </p:sp>
      <p:sp>
        <p:nvSpPr>
          <p:cNvPr id="8" name="Linear storage"/>
          <p:cNvSpPr/>
          <p:nvPr/>
        </p:nvSpPr>
        <p:spPr>
          <a:xfrm>
            <a:off x="8046720" y="3200400"/>
            <a:ext cx="3246120" cy="11887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700" b="1">
                <a:solidFill>
                  <a:srgbClr val="23334A"/>
                </a:solidFill>
                <a:latin typeface="Times New Roman"/>
              </a:rPr>
              <a:t>O(n)</a:t>
            </a:r>
          </a:p>
          <a:p>
            <a:pPr algn="ctr"/>
            <a:r>
              <a:rPr sz="2700" b="1">
                <a:solidFill>
                  <a:srgbClr val="23334A"/>
                </a:solidFill>
                <a:latin typeface="Times New Roman"/>
              </a:rPr>
              <a:t>Stored history references</a:t>
            </a:r>
          </a:p>
        </p:txBody>
      </p:sp>
      <p:sp>
        <p:nvSpPr>
          <p:cNvPr id="9" name="Counts qualification"/>
          <p:cNvSpPr txBox="1"/>
          <p:nvPr/>
        </p:nvSpPr>
        <p:spPr>
          <a:xfrm>
            <a:off x="868680" y="5166360"/>
            <a:ext cx="10515600" cy="5943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23334A"/>
                </a:solidFill>
                <a:latin typeface="Times New Roman"/>
              </a:rPr>
              <a:t>n is the number of stored entries. A front removal shifts n − 1 entries; stack pop touches one top entry.</a:t>
            </a:r>
          </a:p>
        </p:txBody>
      </p:sp>
      <p:sp>
        <p:nvSpPr>
          <p:cNvPr id="10" name="Takeaway"/>
          <p:cNvSpPr/>
          <p:nvPr/>
        </p:nvSpPr>
        <p:spPr>
          <a:xfrm>
            <a:off x="685800" y="5870448"/>
            <a:ext cx="10817352" cy="438912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These are operation-count illustrations, not browser timings or measured speedups.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1371600" y="246888"/>
            <a:ext cx="9418320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3200" b="1">
                <a:solidFill>
                  <a:srgbClr val="0B1F4B"/>
                </a:solidFill>
                <a:latin typeface="Times New Roman"/>
              </a:rPr>
              <a:t>Boundary Cases and Limitations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371600" y="841248"/>
            <a:ext cx="9418320" cy="3200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0">
                <a:solidFill>
                  <a:srgbClr val="167D8D"/>
                </a:solidFill>
                <a:latin typeface="Times New Roman"/>
              </a:rPr>
              <a:t>13 · Make the model safe and realistic</a:t>
            </a:r>
          </a:p>
        </p:txBody>
      </p:sp>
      <p:sp>
        <p:nvSpPr>
          <p:cNvPr id="4" name="Slide counter"/>
          <p:cNvSpPr txBox="1"/>
          <p:nvPr/>
        </p:nvSpPr>
        <p:spPr>
          <a:xfrm>
            <a:off x="1110996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526377"/>
                </a:solidFill>
                <a:latin typeface="Times New Roman"/>
              </a:rPr>
              <a:t>14</a:t>
            </a:r>
          </a:p>
        </p:txBody>
      </p:sp>
      <p:sp>
        <p:nvSpPr>
          <p:cNvPr id="5" name="Edge number 0"/>
          <p:cNvSpPr/>
          <p:nvPr/>
        </p:nvSpPr>
        <p:spPr>
          <a:xfrm>
            <a:off x="868680" y="155448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167D8D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3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6" name="Edge title 0"/>
          <p:cNvSpPr txBox="1"/>
          <p:nvPr/>
        </p:nvSpPr>
        <p:spPr>
          <a:xfrm>
            <a:off x="1645920" y="1554480"/>
            <a:ext cx="3337560" cy="4572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B1F4B"/>
                </a:solidFill>
                <a:latin typeface="Times New Roman"/>
              </a:rPr>
              <a:t>Empty history</a:t>
            </a:r>
          </a:p>
        </p:txBody>
      </p:sp>
      <p:sp>
        <p:nvSpPr>
          <p:cNvPr id="7" name="Edge body 0"/>
          <p:cNvSpPr txBox="1"/>
          <p:nvPr/>
        </p:nvSpPr>
        <p:spPr>
          <a:xfrm>
            <a:off x="5074920" y="1554480"/>
            <a:ext cx="6126480" cy="6400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>
                <a:solidFill>
                  <a:srgbClr val="23334A"/>
                </a:solidFill>
                <a:latin typeface="Times New Roman"/>
              </a:rPr>
              <a:t>Back is disabled; leave current unchanged.</a:t>
            </a:r>
          </a:p>
        </p:txBody>
      </p:sp>
      <p:sp>
        <p:nvSpPr>
          <p:cNvPr id="8" name="Edge number 1"/>
          <p:cNvSpPr/>
          <p:nvPr/>
        </p:nvSpPr>
        <p:spPr>
          <a:xfrm>
            <a:off x="868680" y="2542032"/>
            <a:ext cx="548640" cy="548640"/>
          </a:xfrm>
          <a:prstGeom prst="roundRect">
            <a:avLst>
              <a:gd name="adj" fmla="val 8000"/>
            </a:avLst>
          </a:prstGeom>
          <a:solidFill>
            <a:srgbClr val="167D8D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3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" name="Edge title 1"/>
          <p:cNvSpPr txBox="1"/>
          <p:nvPr/>
        </p:nvSpPr>
        <p:spPr>
          <a:xfrm>
            <a:off x="1645920" y="2542032"/>
            <a:ext cx="3337560" cy="4572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B1F4B"/>
                </a:solidFill>
                <a:latin typeface="Times New Roman"/>
              </a:rPr>
              <a:t>Repeated URLs</a:t>
            </a:r>
          </a:p>
        </p:txBody>
      </p:sp>
      <p:sp>
        <p:nvSpPr>
          <p:cNvPr id="10" name="Edge body 1"/>
          <p:cNvSpPr txBox="1"/>
          <p:nvPr/>
        </p:nvSpPr>
        <p:spPr>
          <a:xfrm>
            <a:off x="5074920" y="2542032"/>
            <a:ext cx="6126480" cy="6400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>
                <a:solidFill>
                  <a:srgbClr val="23334A"/>
                </a:solidFill>
                <a:latin typeface="Times New Roman"/>
              </a:rPr>
              <a:t>Store visits as distinct entries, not unique URLs.</a:t>
            </a:r>
          </a:p>
        </p:txBody>
      </p:sp>
      <p:sp>
        <p:nvSpPr>
          <p:cNvPr id="11" name="Edge number 2"/>
          <p:cNvSpPr/>
          <p:nvPr/>
        </p:nvSpPr>
        <p:spPr>
          <a:xfrm>
            <a:off x="868680" y="3529584"/>
            <a:ext cx="548640" cy="548640"/>
          </a:xfrm>
          <a:prstGeom prst="roundRect">
            <a:avLst>
              <a:gd name="adj" fmla="val 8000"/>
            </a:avLst>
          </a:prstGeom>
          <a:solidFill>
            <a:srgbClr val="167D8D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3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2" name="Edge title 2"/>
          <p:cNvSpPr txBox="1"/>
          <p:nvPr/>
        </p:nvSpPr>
        <p:spPr>
          <a:xfrm>
            <a:off x="1645920" y="3529584"/>
            <a:ext cx="3337560" cy="4572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B1F4B"/>
                </a:solidFill>
                <a:latin typeface="Times New Roman"/>
              </a:rPr>
              <a:t>New visit after Back</a:t>
            </a:r>
          </a:p>
        </p:txBody>
      </p:sp>
      <p:sp>
        <p:nvSpPr>
          <p:cNvPr id="13" name="Edge body 2"/>
          <p:cNvSpPr txBox="1"/>
          <p:nvPr/>
        </p:nvSpPr>
        <p:spPr>
          <a:xfrm>
            <a:off x="5074920" y="3529584"/>
            <a:ext cx="6126480" cy="6400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>
                <a:solidFill>
                  <a:srgbClr val="23334A"/>
                </a:solidFill>
                <a:latin typeface="Times New Roman"/>
              </a:rPr>
              <a:t>Discard the Forward stack after a new visit.</a:t>
            </a:r>
          </a:p>
        </p:txBody>
      </p:sp>
      <p:sp>
        <p:nvSpPr>
          <p:cNvPr id="14" name="Edge number 3"/>
          <p:cNvSpPr/>
          <p:nvPr/>
        </p:nvSpPr>
        <p:spPr>
          <a:xfrm>
            <a:off x="868680" y="4517136"/>
            <a:ext cx="548640" cy="548640"/>
          </a:xfrm>
          <a:prstGeom prst="roundRect">
            <a:avLst>
              <a:gd name="adj" fmla="val 8000"/>
            </a:avLst>
          </a:prstGeom>
          <a:solidFill>
            <a:srgbClr val="167D8D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23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5" name="Edge title 3"/>
          <p:cNvSpPr txBox="1"/>
          <p:nvPr/>
        </p:nvSpPr>
        <p:spPr>
          <a:xfrm>
            <a:off x="1645920" y="4517136"/>
            <a:ext cx="3337560" cy="4572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B1F4B"/>
                </a:solidFill>
                <a:latin typeface="Times New Roman"/>
              </a:rPr>
              <a:t>Page-load cost</a:t>
            </a:r>
          </a:p>
        </p:txBody>
      </p:sp>
      <p:sp>
        <p:nvSpPr>
          <p:cNvPr id="16" name="Edge body 3"/>
          <p:cNvSpPr txBox="1"/>
          <p:nvPr/>
        </p:nvSpPr>
        <p:spPr>
          <a:xfrm>
            <a:off x="5074920" y="4517136"/>
            <a:ext cx="6126480" cy="6400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>
                <a:solidFill>
                  <a:srgbClr val="23334A"/>
                </a:solidFill>
                <a:latin typeface="Times New Roman"/>
              </a:rPr>
              <a:t>Network, cache and rendering cost are separate.</a:t>
            </a:r>
          </a:p>
        </p:txBody>
      </p:sp>
      <p:sp>
        <p:nvSpPr>
          <p:cNvPr id="17" name="Takeaway"/>
          <p:cNvSpPr/>
          <p:nvPr/>
        </p:nvSpPr>
        <p:spPr>
          <a:xfrm>
            <a:off x="685800" y="5870448"/>
            <a:ext cx="10817352" cy="438912"/>
          </a:xfrm>
          <a:prstGeom prst="roundRect">
            <a:avLst>
              <a:gd name="adj" fmla="val 8000"/>
            </a:avLst>
          </a:prstGeom>
          <a:solidFill>
            <a:srgbClr val="0B1F4B"/>
          </a:solidFill>
          <a:ln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O(1) refers to history bookkeeping, not guaranteed instant loading of a web page.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  <p:sp>
        <p:nvSpPr>
          <p:cNvPr id="16" name="Closing presenter"/>
          <p:cNvSpPr txBox="1"/>
          <p:nvPr/>
        </p:nvSpPr>
        <p:spPr>
          <a:xfrm>
            <a:off x="1828800" y="5120640"/>
            <a:ext cx="8503920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167D8D"/>
                </a:solidFill>
                <a:latin typeface="Times New Roman"/>
              </a:rPr>
              <a:t>g.vinay kumar rddy · 192424245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TS Technical">
  <a:themeElements>
    <a:clrScheme name="SIMATS Technical">
      <a:dk1>
        <a:srgbClr val="111827"/>
      </a:dk1>
      <a:lt1>
        <a:srgbClr val="FFFFFF"/>
      </a:lt1>
      <a:dk2>
        <a:srgbClr val="002060"/>
      </a:dk2>
      <a:lt2>
        <a:srgbClr val="EAF1FB"/>
      </a:lt2>
      <a:accent1>
        <a:srgbClr val="1F5FA8"/>
      </a:accent1>
      <a:accent2>
        <a:srgbClr val="F26522"/>
      </a:accent2>
      <a:accent3>
        <a:srgbClr val="6DB33F"/>
      </a:accent3>
      <a:accent4>
        <a:srgbClr val="9DB4D6"/>
      </a:accent4>
      <a:accent5>
        <a:srgbClr val="0B1F4B"/>
      </a:accent5>
      <a:accent6>
        <a:srgbClr val="6B7280"/>
      </a:accent6>
      <a:hlink>
        <a:srgbClr val="1F5FA8"/>
      </a:hlink>
      <a:folHlink>
        <a:srgbClr val="6B7280"/>
      </a:folHlink>
    </a:clrScheme>
    <a:fontScheme name="SIMATS Technical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ATS Technical">
  <a:themeElements>
    <a:clrScheme name="SIMATS Technical">
      <a:dk1>
        <a:srgbClr val="111827"/>
      </a:dk1>
      <a:lt1>
        <a:srgbClr val="FFFFFF"/>
      </a:lt1>
      <a:dk2>
        <a:srgbClr val="002060"/>
      </a:dk2>
      <a:lt2>
        <a:srgbClr val="EAF1FB"/>
      </a:lt2>
      <a:accent1>
        <a:srgbClr val="1F5FA8"/>
      </a:accent1>
      <a:accent2>
        <a:srgbClr val="F26522"/>
      </a:accent2>
      <a:accent3>
        <a:srgbClr val="6DB33F"/>
      </a:accent3>
      <a:accent4>
        <a:srgbClr val="9DB4D6"/>
      </a:accent4>
      <a:accent5>
        <a:srgbClr val="0B1F4B"/>
      </a:accent5>
      <a:accent6>
        <a:srgbClr val="6B7280"/>
      </a:accent6>
      <a:hlink>
        <a:srgbClr val="1F5FA8"/>
      </a:hlink>
      <a:folHlink>
        <a:srgbClr val="6B7280"/>
      </a:folHlink>
    </a:clrScheme>
    <a:fontScheme name="SIMATS Technical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5928</Words>
  <Application>WPS Presentation</Application>
  <PresentationFormat>On-screen Show (16:9)</PresentationFormat>
  <Paragraphs>599</Paragraphs>
  <Slides>16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Times New Roman</vt:lpstr>
      <vt:lpstr>Times New Roman</vt:lpstr>
      <vt:lpstr>Times New Roman</vt:lpstr>
      <vt:lpstr>Times New Roman</vt:lpstr>
      <vt:lpstr>Courier New</vt:lpstr>
      <vt:lpstr>Courier New</vt:lpstr>
      <vt:lpstr>Courier New</vt:lpstr>
      <vt:lpstr>Microsoft YaHei</vt:lpstr>
      <vt:lpstr>Arial Unicode MS</vt:lpstr>
      <vt:lpstr>Calibri</vt:lpstr>
      <vt:lpstr>SIMATS Technical</vt:lpstr>
      <vt:lpstr>for Real-World Problems</vt:lpstr>
      <vt:lpstr>PowerPoint 演示文稿</vt:lpstr>
      <vt:lpstr>PowerPoint 演示文稿</vt:lpstr>
      <vt:lpstr>Primitive vs Non-Primitive</vt:lpstr>
      <vt:lpstr>Why an Array Fits</vt:lpstr>
      <vt:lpstr>Implementation &amp; Justification</vt:lpstr>
      <vt:lpstr>Graph for City Navigation</vt:lpstr>
      <vt:lpstr>Representation &amp; Algorithm</vt:lpstr>
      <vt:lpstr>Dijkstra in Action</vt:lpstr>
      <vt:lpstr>Stack ADT for Browser History</vt:lpstr>
      <vt:lpstr>How the Back Button Works</vt:lpstr>
      <vt:lpstr>Performance Efficiency</vt:lpstr>
      <vt:lpstr>Searching 50,000 ISBN Records</vt:lpstr>
      <vt:lpstr>Time Complexity Comparison</vt:lpstr>
      <vt:lpstr>Hash Design &amp; Conclusion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Presentation - Data Structures (CSA03)</dc:title>
  <dc:creator>SIMATS Engineering</dc:creator>
  <dc:subject>PptxGenJS Presentation</dc:subject>
  <cp:lastModifiedBy>KANITHI RAMYA</cp:lastModifiedBy>
  <cp:revision>2</cp:revision>
  <dcterms:created xsi:type="dcterms:W3CDTF">2026-10-09T03:10:00Z</dcterms:created>
  <dcterms:modified xsi:type="dcterms:W3CDTF">2026-10-09T04:11:24Z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939E81421BE64F35A03D495DC42A8052_13</vt:lpwstr>
  </property>
</Properties>
</file>